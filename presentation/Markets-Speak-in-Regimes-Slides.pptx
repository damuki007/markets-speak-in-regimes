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Annualised Volatility (Indicative)</c:v>
                </c:pt>
              </c:strCache>
            </c:strRef>
          </c:tx>
          <c:spPr>
            <a:solidFill>
              <a:srgbClr val="27AE60"/>
            </a:solidFill>
            <a:effectLst/>
          </c:spPr>
          <c:invertIfNegative val="0"/>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27AE60"/>
              </a:solidFill>
              <a:effectLst/>
            </c:spPr>
          </c:dPt>
          <c:dPt>
            <c:idx val="1"/>
            <c:invertIfNegative val="0"/>
            <c:bubble3D val="0"/>
            <c:spPr>
              <a:solidFill>
                <a:srgbClr val="2980B9"/>
              </a:solidFill>
              <a:effectLst/>
            </c:spPr>
          </c:dPt>
          <c:dPt>
            <c:idx val="2"/>
            <c:invertIfNegative val="0"/>
            <c:bubble3D val="0"/>
            <c:spPr>
              <a:solidFill>
                <a:srgbClr val="E67E22"/>
              </a:solidFill>
              <a:effectLst/>
            </c:spPr>
          </c:dPt>
          <c:dPt>
            <c:idx val="3"/>
            <c:invertIfNegative val="0"/>
            <c:bubble3D val="0"/>
            <c:spPr>
              <a:solidFill>
                <a:srgbClr val="E74C3C"/>
              </a:solidFill>
              <a:effectLst/>
            </c:spPr>
          </c:dPt>
          <c:cat>
            <c:multiLvlStrRef>
              <c:f>Sheet1!$A$2:$A$5</c:f>
              <c:multiLvlStrCache>
                <c:ptCount val="4"/>
                <c:lvl>
                  <c:pt idx="0">
                    <c:v>Low Vol
(Regime 0)</c:v>
                  </c:pt>
                  <c:pt idx="1">
                    <c:v>Moderate
(Regime 1)</c:v>
                  </c:pt>
                  <c:pt idx="2">
                    <c:v>High Vol
(Regime 2)</c:v>
                  </c:pt>
                  <c:pt idx="3">
                    <c:v>Extreme
(Regime 3)</c:v>
                  </c:pt>
                </c:lvl>
              </c:multiLvlStrCache>
            </c:multiLvlStrRef>
          </c:cat>
          <c:val>
            <c:numRef>
              <c:f>Sheet1!$B$2:$B$5</c:f>
              <c:numCache>
                <c:formatCode>General</c:formatCode>
                <c:ptCount val="4"/>
                <c:pt idx="0">
                  <c:v>0.14</c:v>
                </c:pt>
                <c:pt idx="1">
                  <c:v>0.28</c:v>
                </c:pt>
                <c:pt idx="2">
                  <c:v>0.45</c:v>
                </c:pt>
                <c:pt idx="3">
                  <c:v>0.72</c:v>
                </c:pt>
              </c:numCache>
            </c:numRef>
          </c:val>
        </c:ser>
        <c:dLbls>
          <c:numFmt formatCode="0%"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presentation covers the methodology and findings of a quantitative equity risk analysis on Safaricom (SCOM.NSE). The central thesis: we can predict WHEN this market will be risky — even when we cannot predict WHERE prices will go. The Vodacom acquisition, which closed yesterday, serves as a live validation of our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reframe: we're not building a price predictor. We're building a regime detector — a model that tells us whether the market is in a calm, trending, stressed, or crisis state. That information is directly actionable for portfolio risk management: position sizing, stop-losses, hedging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pipeline left to right. Each step feeds the next. The GARCH model was fitted on ~2,500 trading days for statistical robustness — that's roughly 10 years of daily data. The GMM regime detection then operates on the GARCH-filtered residuals to identify the underlying volatility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+91% price recovery is the attention-grabber, but that's not the point. The ARCH LM p-value of 1.2×10⁻²² is essentially zero — volatility is NOT random white noise. It has structure. That structure is what the GARCH model captures. Skewness of +0.32 means large positive shocks happen more often than the normal distribution expects.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critical numbers here are alpha and beta. Alpha = 0.10 means new shocks have moderate immediate impact. Beta = 0.80 means yesterday's vol heavily predicts today's vol. Their sum = 0.90 tells us vol is near-integrated — a crisis doesn't resolve in a day or two. Nu ≈ 5 confirms heavy tails — extreme moves happen more often than a normal distribution predicts, which is why we need Student-t rather than Gaussian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GMM uses Bayesian Information Criterion to confirm k=4 is optimal — not 3, not 5. Each regime has statistically distinct mean and variance in the return space. Percentages are approximate from the fitted model on the full dataset. The key practical value: knowing which regime we're IN allows portfolio managers to size positions appropriately — not just react after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output. The annualised volatility by regime roughly follows: 14% in calm periods, 28% in trending markets, 45% in stress, 72% in crisis. That gap between regime 0 and regime 3 is a 5x difference in risk. A position-sizing framework that scales with regime can dramatically reduce drawdowns without sacrificing returns during calm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question: 'Is this model validated?' Here's the honest, rigorous answer. The Kupiec test checks whether the VaR violation COUNT matches 5% — our GARCH-t conditional VaR passes it (5.9%, p=0.16). But count alone isn't enough, so we also run the Christoffersen independence test: it confirms our violations don't cluster (p=0.86). A naive constant VaR would pass Kupiec but FAIL Christoffersen — its breaches bunch up in volatile spells. So the model is validated on BOTH coverage and independence. GJR-GARCH and EVT are about sharpening the extreme tail for production, not repairing a failing model. That's a strong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where the analysis becomes real. Everything before this slide is methodology. This slide is the evidence. The Vodacom acquisition of a 20% additional stake — bringing total to 55% — represents a fundamental change in ownership structure, governance, and strategic direction. That IS a structural break by definition. Our regime detection framework exists precisely to identify moments like this in the price and volatility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timeline. The key statistical point: the announcement date of Dec 4, 2025 should show up as a change-point in the Zivot-Andrews test and ruptures PELT algorithm. Price rallied +91% from the KES 15 low — that's a regime transition in price space. The analytical insight: our framework predicted that regime transitions ARE detectable. The Vodacom deal is post-sample validation — we didn't fit the model to this event. The dashboard makes this concrete: in Tab 3, once the post-Jun-2026 data is loaded, the model shades the post-takeover period as its own volatility-regime episode — the visual proof of out-of-sample detection.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demo slide. Switch to your terminal and run the Streamlit app. Walk through each tab: Tab 1 — show the price chart, toggle Vodacom events on. Tab 2 — show rolling vol, point out how vol spiked around Dec 2025 announcement. Tab 3 — the regime view now shades the series into volatility episodes (Ruptures PELT), each band coloured by its GMM regime with the price line on top; read out the current regime and use the sidebar Regime episode sensitivity slider to widen or refine the bands. Once the EODHD data extends past the Jun 30 2026 close, a distinct post-takeover band appears with an out-of-sample bracket — that is the theory validating itself live. Tab 4 — show the VaR chart and point out that the live Kupiec + Christoffersen backtest PASSES (5.9%, p=0.16); frame GJR-GARCH/EVT as tail-sharpening, not a fix. The sidebar confidence slider is interactive — adjust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clear phases. Phase 1 is done — that's what we just presented. Phase 2 is the dashboard you just saw running live. Phase 3 is the product: a real-time internal tool that gives a regime signal and risk budget recommendation every trading day. The GJR-GARCH and EVT enhancements sharpen the extreme tail of the already-validated VaR from slide 8 — they raise precision, they don't repair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questions to prepare for: Q: 'How do we use this operationally?' — A: Regime signal + position-sizing table (slide 7). Q: 'Why not a neural network?' — A: Interpretability. We need to explain risk to compliance. GARCH is industry standard. Q: 'What about other NSE stocks?' — A: Same pipeline applies. SAFCOM is the proof of concept. Q: 'Is the VaR model safe to use?' — A: It passes both Kupiec (coverage) and Christoffersen (independence), so it's validated for analysis and risk signalling; GJR-GARCH/EVT sharpen the extreme tail before large-scale capital allocation. Q: 'What about the Vodacom data since Jun 30?' — A: Limited trading history yet, but we'll re-calibrate as data accumulates.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C5B"/>
        </a:solidFill>
      </p:bgPr>
    </p:bg>
    <p:spTree>
      <p:nvGrpSpPr>
        <p:cNvPr id="1" name=""/>
        <p:cNvGrpSpPr/>
        <p:nvPr/>
      </p:nvGrpSpPr>
      <p:grpSpPr>
        <a:xfrm>
          <a:off x="0" y="0"/>
          <a:ext cx="0" cy="0"/>
          <a:chOff x="0" y="0"/>
          <a:chExt cx="0" cy="0"/>
        </a:xfrm>
      </p:grpSpPr>
      <p:sp>
        <p:nvSpPr>
          <p:cNvPr id="2" name="Shape 0"/>
          <p:cNvSpPr/>
          <p:nvPr/>
        </p:nvSpPr>
        <p:spPr>
          <a:xfrm>
            <a:off x="7132320" y="-822960"/>
            <a:ext cx="3200400" cy="3200400"/>
          </a:xfrm>
          <a:prstGeom prst="ellipse">
            <a:avLst/>
          </a:prstGeom>
          <a:solidFill>
            <a:srgbClr val="2A4080">
              <a:alpha val="60000"/>
            </a:srgbClr>
          </a:solidFill>
          <a:ln w="12700">
            <a:solidFill>
              <a:srgbClr val="2A4080"/>
            </a:solidFill>
            <a:prstDash val="solid"/>
          </a:ln>
        </p:spPr>
      </p:sp>
      <p:sp>
        <p:nvSpPr>
          <p:cNvPr id="3" name="Shape 1"/>
          <p:cNvSpPr/>
          <p:nvPr/>
        </p:nvSpPr>
        <p:spPr>
          <a:xfrm>
            <a:off x="7955280" y="-182880"/>
            <a:ext cx="1828800" cy="1828800"/>
          </a:xfrm>
          <a:prstGeom prst="ellipse">
            <a:avLst/>
          </a:prstGeom>
          <a:solidFill>
            <a:srgbClr val="1A7FA5">
              <a:alpha val="45000"/>
            </a:srgbClr>
          </a:solidFill>
          <a:ln w="12700">
            <a:solidFill>
              <a:srgbClr val="1A7FA5"/>
            </a:solidFill>
            <a:prstDash val="solid"/>
          </a:ln>
        </p:spPr>
      </p:sp>
      <p:sp>
        <p:nvSpPr>
          <p:cNvPr id="4" name="Shape 2"/>
          <p:cNvSpPr/>
          <p:nvPr/>
        </p:nvSpPr>
        <p:spPr>
          <a:xfrm>
            <a:off x="-914400" y="3749040"/>
            <a:ext cx="2560320" cy="2560320"/>
          </a:xfrm>
          <a:prstGeom prst="ellipse">
            <a:avLst/>
          </a:prstGeom>
          <a:solidFill>
            <a:srgbClr val="1A7FA5">
              <a:alpha val="35000"/>
            </a:srgbClr>
          </a:solidFill>
          <a:ln w="12700">
            <a:solidFill>
              <a:srgbClr val="1A7FA5"/>
            </a:solidFill>
            <a:prstDash val="solid"/>
          </a:ln>
        </p:spPr>
      </p:sp>
      <p:sp>
        <p:nvSpPr>
          <p:cNvPr id="5" name="Text 3"/>
          <p:cNvSpPr/>
          <p:nvPr/>
        </p:nvSpPr>
        <p:spPr>
          <a:xfrm>
            <a:off x="594360" y="731520"/>
            <a:ext cx="7955280" cy="274320"/>
          </a:xfrm>
          <a:prstGeom prst="rect">
            <a:avLst/>
          </a:prstGeom>
          <a:noFill/>
          <a:ln/>
        </p:spPr>
        <p:txBody>
          <a:bodyPr wrap="square" rtlCol="0" anchor="ctr"/>
          <a:lstStyle/>
          <a:p>
            <a:pPr algn="l" indent="0" marL="0">
              <a:buNone/>
            </a:pPr>
            <a:r>
              <a:rPr lang="en-US" sz="800" spc="300" kern="0" dirty="0">
                <a:solidFill>
                  <a:srgbClr val="CADCFC"/>
                </a:solidFill>
                <a:latin typeface="Calibri" pitchFamily="34" charset="0"/>
                <a:ea typeface="Calibri" pitchFamily="34" charset="-122"/>
                <a:cs typeface="Calibri" pitchFamily="34" charset="-120"/>
              </a:rPr>
              <a:t>NSE  ·  SAFARICOM EQUITY RISK ANALYSIS  ·  JULY 2026</a:t>
            </a:r>
            <a:endParaRPr lang="en-US" sz="800" dirty="0"/>
          </a:p>
        </p:txBody>
      </p:sp>
      <p:sp>
        <p:nvSpPr>
          <p:cNvPr id="6" name="Text 4"/>
          <p:cNvSpPr/>
          <p:nvPr/>
        </p:nvSpPr>
        <p:spPr>
          <a:xfrm>
            <a:off x="594360" y="1051560"/>
            <a:ext cx="7772400" cy="2011680"/>
          </a:xfrm>
          <a:prstGeom prst="rect">
            <a:avLst/>
          </a:prstGeom>
          <a:noFill/>
          <a:ln/>
        </p:spPr>
        <p:txBody>
          <a:bodyPr wrap="square" rtlCol="0" anchor="ctr"/>
          <a:lstStyle/>
          <a:p>
            <a:pPr algn="l" indent="0" marL="0">
              <a:lnSpc>
                <a:spcPct val="110000"/>
              </a:lnSpc>
              <a:buNone/>
            </a:pPr>
            <a:r>
              <a:rPr lang="en-US" sz="5600" b="1" dirty="0">
                <a:solidFill>
                  <a:srgbClr val="FFFFFF"/>
                </a:solidFill>
                <a:latin typeface="Cambria" pitchFamily="34" charset="0"/>
                <a:ea typeface="Cambria" pitchFamily="34" charset="-122"/>
                <a:cs typeface="Cambria" pitchFamily="34" charset="-120"/>
              </a:rPr>
              <a:t>Markets Speak</a:t>
            </a:r>
            <a:endParaRPr lang="en-US" sz="5600" dirty="0"/>
          </a:p>
          <a:p>
            <a:pPr algn="l" indent="0" marL="0">
              <a:lnSpc>
                <a:spcPct val="110000"/>
              </a:lnSpc>
              <a:buNone/>
            </a:pPr>
            <a:r>
              <a:rPr lang="en-US" sz="5600" b="1" dirty="0">
                <a:solidFill>
                  <a:srgbClr val="FFFFFF"/>
                </a:solidFill>
                <a:latin typeface="Cambria" pitchFamily="34" charset="0"/>
                <a:ea typeface="Cambria" pitchFamily="34" charset="-122"/>
                <a:cs typeface="Cambria" pitchFamily="34" charset="-120"/>
              </a:rPr>
              <a:t>in Regimes</a:t>
            </a:r>
            <a:endParaRPr lang="en-US" sz="5600" dirty="0"/>
          </a:p>
        </p:txBody>
      </p:sp>
      <p:sp>
        <p:nvSpPr>
          <p:cNvPr id="7" name="Text 5"/>
          <p:cNvSpPr/>
          <p:nvPr/>
        </p:nvSpPr>
        <p:spPr>
          <a:xfrm>
            <a:off x="594360" y="3108960"/>
            <a:ext cx="7772400" cy="457200"/>
          </a:xfrm>
          <a:prstGeom prst="rect">
            <a:avLst/>
          </a:prstGeom>
          <a:noFill/>
          <a:ln/>
        </p:spPr>
        <p:txBody>
          <a:bodyPr wrap="square" rtlCol="0" anchor="ctr"/>
          <a:lstStyle/>
          <a:p>
            <a:pPr algn="l" indent="0" marL="0">
              <a:buNone/>
            </a:pPr>
            <a:r>
              <a:rPr lang="en-US" sz="1900" dirty="0">
                <a:solidFill>
                  <a:srgbClr val="CADCFC"/>
                </a:solidFill>
                <a:latin typeface="Calibri" pitchFamily="34" charset="0"/>
                <a:ea typeface="Calibri" pitchFamily="34" charset="-122"/>
                <a:cs typeface="Calibri" pitchFamily="34" charset="-120"/>
              </a:rPr>
              <a:t>Lessons from Safaricom's Equity Behaviour</a:t>
            </a:r>
            <a:endParaRPr lang="en-US" sz="1900" dirty="0"/>
          </a:p>
        </p:txBody>
      </p:sp>
      <p:sp>
        <p:nvSpPr>
          <p:cNvPr id="8" name="Shape 6"/>
          <p:cNvSpPr/>
          <p:nvPr/>
        </p:nvSpPr>
        <p:spPr>
          <a:xfrm>
            <a:off x="594360" y="3749040"/>
            <a:ext cx="1828800" cy="45720"/>
          </a:xfrm>
          <a:prstGeom prst="rect">
            <a:avLst/>
          </a:prstGeom>
          <a:solidFill>
            <a:srgbClr val="1A7FA5"/>
          </a:solidFill>
          <a:ln w="12700">
            <a:solidFill>
              <a:srgbClr val="1A7FA5"/>
            </a:solidFill>
            <a:prstDash val="solid"/>
          </a:ln>
        </p:spPr>
      </p:sp>
      <p:sp>
        <p:nvSpPr>
          <p:cNvPr id="9" name="Text 7"/>
          <p:cNvSpPr/>
          <p:nvPr/>
        </p:nvSpPr>
        <p:spPr>
          <a:xfrm>
            <a:off x="594360" y="3913632"/>
            <a:ext cx="7772400" cy="274320"/>
          </a:xfrm>
          <a:prstGeom prst="rect">
            <a:avLst/>
          </a:prstGeom>
          <a:noFill/>
          <a:ln/>
        </p:spPr>
        <p:txBody>
          <a:bodyPr wrap="square" rtlCol="0" anchor="ctr"/>
          <a:lstStyle/>
          <a:p>
            <a:pPr algn="l" indent="0" marL="0">
              <a:buNone/>
            </a:pPr>
            <a:r>
              <a:rPr lang="en-US" sz="1200" dirty="0">
                <a:solidFill>
                  <a:srgbClr val="CADCFC"/>
                </a:solidFill>
                <a:latin typeface="Calibri" pitchFamily="34" charset="0"/>
                <a:ea typeface="Calibri" pitchFamily="34" charset="-122"/>
                <a:cs typeface="Calibri" pitchFamily="34" charset="-120"/>
              </a:rPr>
              <a:t>David Mutugi Kirianja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137160"/>
            <a:ext cx="2743200" cy="228600"/>
          </a:xfrm>
          <a:prstGeom prst="rect">
            <a:avLst/>
          </a:prstGeom>
          <a:noFill/>
          <a:ln/>
        </p:spPr>
        <p:txBody>
          <a:bodyPr wrap="square" rtlCol="0" anchor="ctr"/>
          <a:lstStyle/>
          <a:p>
            <a:pPr indent="0" marL="0">
              <a:buNone/>
            </a:pPr>
            <a:r>
              <a:rPr lang="en-US" sz="800" spc="200" kern="0" dirty="0">
                <a:solidFill>
                  <a:srgbClr val="1A7FA5"/>
                </a:solidFill>
                <a:latin typeface="Calibri" pitchFamily="34" charset="0"/>
                <a:ea typeface="Calibri" pitchFamily="34" charset="-122"/>
                <a:cs typeface="Calibri" pitchFamily="34" charset="-120"/>
              </a:rPr>
              <a:t>THE THESIS</a:t>
            </a:r>
            <a:endParaRPr lang="en-US" sz="800" dirty="0"/>
          </a:p>
        </p:txBody>
      </p:sp>
      <p:sp>
        <p:nvSpPr>
          <p:cNvPr id="3" name="Text 1"/>
          <p:cNvSpPr/>
          <p:nvPr/>
        </p:nvSpPr>
        <p:spPr>
          <a:xfrm>
            <a:off x="457200" y="411480"/>
            <a:ext cx="8229600" cy="685800"/>
          </a:xfrm>
          <a:prstGeom prst="rect">
            <a:avLst/>
          </a:prstGeom>
          <a:noFill/>
          <a:ln/>
        </p:spPr>
        <p:txBody>
          <a:bodyPr wrap="square" lIns="0" tIns="0" rIns="0" bIns="0" rtlCol="0" anchor="ctr"/>
          <a:lstStyle/>
          <a:p>
            <a:pPr algn="l" indent="0" marL="0">
              <a:buNone/>
            </a:pPr>
            <a:r>
              <a:rPr lang="en-US" sz="3400" b="1" dirty="0">
                <a:solidFill>
                  <a:srgbClr val="1B2C5B"/>
                </a:solidFill>
                <a:latin typeface="Cambria" pitchFamily="34" charset="0"/>
                <a:ea typeface="Cambria" pitchFamily="34" charset="-122"/>
                <a:cs typeface="Cambria" pitchFamily="34" charset="-120"/>
              </a:rPr>
              <a:t>Predict Risk, Not Price</a:t>
            </a:r>
            <a:endParaRPr lang="en-US" sz="3400" dirty="0"/>
          </a:p>
        </p:txBody>
      </p:sp>
      <p:sp>
        <p:nvSpPr>
          <p:cNvPr id="4" name="Shape 2"/>
          <p:cNvSpPr/>
          <p:nvPr/>
        </p:nvSpPr>
        <p:spPr>
          <a:xfrm>
            <a:off x="365760" y="1188720"/>
            <a:ext cx="4389120" cy="3474720"/>
          </a:xfrm>
          <a:prstGeom prst="roundRect">
            <a:avLst>
              <a:gd name="adj" fmla="val 2105"/>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3931920" cy="365760"/>
          </a:xfrm>
          <a:prstGeom prst="rect">
            <a:avLst/>
          </a:prstGeom>
          <a:noFill/>
          <a:ln/>
        </p:spPr>
        <p:txBody>
          <a:bodyPr wrap="square" rtlCol="0" anchor="ctr"/>
          <a:lstStyle/>
          <a:p>
            <a:pPr indent="0" marL="0">
              <a:buNone/>
            </a:pPr>
            <a:r>
              <a:rPr lang="en-US" sz="1400" b="1" dirty="0">
                <a:solidFill>
                  <a:srgbClr val="1B2C5B"/>
                </a:solidFill>
                <a:latin typeface="Cambria" pitchFamily="34" charset="0"/>
                <a:ea typeface="Cambria" pitchFamily="34" charset="-122"/>
                <a:cs typeface="Cambria" pitchFamily="34" charset="-120"/>
              </a:rPr>
              <a:t>The Core Insight</a:t>
            </a:r>
            <a:endParaRPr lang="en-US" sz="1400" dirty="0"/>
          </a:p>
        </p:txBody>
      </p:sp>
      <p:sp>
        <p:nvSpPr>
          <p:cNvPr id="6" name="Text 4"/>
          <p:cNvSpPr/>
          <p:nvPr/>
        </p:nvSpPr>
        <p:spPr>
          <a:xfrm>
            <a:off x="640080" y="1783080"/>
            <a:ext cx="3931920" cy="2651760"/>
          </a:xfrm>
          <a:prstGeom prst="rect">
            <a:avLst/>
          </a:prstGeom>
          <a:noFill/>
          <a:ln/>
        </p:spPr>
        <p:txBody>
          <a:bodyPr wrap="square" rtlCol="0" anchor="t"/>
          <a:lstStyle/>
          <a:p>
            <a:pPr indent="0" marL="0">
              <a:buNone/>
            </a:pPr>
            <a:r>
              <a:rPr lang="en-US" sz="1400" dirty="0">
                <a:solidFill>
                  <a:srgbClr val="1A1A2E"/>
                </a:solidFill>
                <a:latin typeface="Calibri" pitchFamily="34" charset="0"/>
                <a:ea typeface="Calibri" pitchFamily="34" charset="-122"/>
                <a:cs typeface="Calibri" pitchFamily="34" charset="-120"/>
              </a:rPr>
              <a:t>Price direction is largely unpredictable.</a:t>
            </a:r>
            <a:endParaRPr lang="en-US" sz="1400" dirty="0"/>
          </a:p>
          <a:p>
            <a:pPr indent="0" marL="0">
              <a:buNone/>
            </a:pPr>
            <a:r>
              <a:rPr lang="en-US" sz="1400" dirty="0">
                <a:solidFill>
                  <a:srgbClr val="1A1A2E"/>
                </a:solidFill>
                <a:latin typeface="Calibri" pitchFamily="34" charset="0"/>
                <a:ea typeface="Calibri" pitchFamily="34" charset="-122"/>
                <a:cs typeface="Calibri" pitchFamily="34" charset="-120"/>
              </a:rPr>
              <a:t xml:space="preserve"> </a:t>
            </a:r>
            <a:endParaRPr lang="en-US" sz="1400" dirty="0"/>
          </a:p>
          <a:p>
            <a:pPr indent="0" marL="0">
              <a:buNone/>
            </a:pPr>
            <a:r>
              <a:rPr lang="en-US" sz="1400" dirty="0">
                <a:solidFill>
                  <a:srgbClr val="1A1A2E"/>
                </a:solidFill>
                <a:latin typeface="Calibri" pitchFamily="34" charset="0"/>
                <a:ea typeface="Calibri" pitchFamily="34" charset="-122"/>
                <a:cs typeface="Calibri" pitchFamily="34" charset="-120"/>
              </a:rPr>
              <a:t>Volatility is not.</a:t>
            </a:r>
            <a:endParaRPr lang="en-US" sz="1400" dirty="0"/>
          </a:p>
          <a:p>
            <a:pPr indent="0" marL="0">
              <a:buNone/>
            </a:pPr>
            <a:r>
              <a:rPr lang="en-US" sz="1400" dirty="0">
                <a:solidFill>
                  <a:srgbClr val="1A1A2E"/>
                </a:solidFill>
                <a:latin typeface="Calibri" pitchFamily="34" charset="0"/>
                <a:ea typeface="Calibri" pitchFamily="34" charset="-122"/>
                <a:cs typeface="Calibri" pitchFamily="34" charset="-120"/>
              </a:rPr>
              <a:t xml:space="preserve"> </a:t>
            </a:r>
            <a:endParaRPr lang="en-US" sz="1400" dirty="0"/>
          </a:p>
          <a:p>
            <a:pPr indent="0" marL="0">
              <a:buNone/>
            </a:pPr>
            <a:r>
              <a:rPr lang="en-US" sz="1400" dirty="0">
                <a:solidFill>
                  <a:srgbClr val="1A1A2E"/>
                </a:solidFill>
                <a:latin typeface="Calibri" pitchFamily="34" charset="0"/>
                <a:ea typeface="Calibri" pitchFamily="34" charset="-122"/>
                <a:cs typeface="Calibri" pitchFamily="34" charset="-120"/>
              </a:rPr>
              <a:t>Volatility clusters: high-vol periods follow high-vol periods. This is not noise — it is structure. And structure can be modelled.</a:t>
            </a:r>
            <a:endParaRPr lang="en-US" sz="1400" dirty="0"/>
          </a:p>
          <a:p>
            <a:pPr indent="0" marL="0">
              <a:buNone/>
            </a:pPr>
            <a:r>
              <a:rPr lang="en-US" sz="1400" dirty="0">
                <a:solidFill>
                  <a:srgbClr val="1A1A2E"/>
                </a:solidFill>
                <a:latin typeface="Calibri" pitchFamily="34" charset="0"/>
                <a:ea typeface="Calibri" pitchFamily="34" charset="-122"/>
                <a:cs typeface="Calibri" pitchFamily="34" charset="-120"/>
              </a:rPr>
              <a:t xml:space="preserve"> </a:t>
            </a:r>
            <a:endParaRPr lang="en-US" sz="1400" dirty="0"/>
          </a:p>
          <a:p>
            <a:pPr indent="0" marL="0">
              <a:buNone/>
            </a:pPr>
            <a:r>
              <a:rPr lang="en-US" sz="1400" dirty="0">
                <a:solidFill>
                  <a:srgbClr val="1A1A2E"/>
                </a:solidFill>
                <a:latin typeface="Calibri" pitchFamily="34" charset="0"/>
                <a:ea typeface="Calibri" pitchFamily="34" charset="-122"/>
                <a:cs typeface="Calibri" pitchFamily="34" charset="-120"/>
              </a:rPr>
              <a:t>The question we answer: which regime is SCOM in right now — and what does that imply for risk exposure?</a:t>
            </a:r>
            <a:endParaRPr lang="en-US" sz="1400" dirty="0"/>
          </a:p>
        </p:txBody>
      </p:sp>
      <p:sp>
        <p:nvSpPr>
          <p:cNvPr id="7" name="Shape 5"/>
          <p:cNvSpPr/>
          <p:nvPr/>
        </p:nvSpPr>
        <p:spPr>
          <a:xfrm>
            <a:off x="5074920" y="1188720"/>
            <a:ext cx="3657600" cy="1051560"/>
          </a:xfrm>
          <a:prstGeom prst="roundRect">
            <a:avLst>
              <a:gd name="adj" fmla="val 6957"/>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257800" y="1280160"/>
            <a:ext cx="3291840" cy="502920"/>
          </a:xfrm>
          <a:prstGeom prst="rect">
            <a:avLst/>
          </a:prstGeom>
          <a:noFill/>
          <a:ln/>
        </p:spPr>
        <p:txBody>
          <a:bodyPr wrap="square" rtlCol="0" anchor="ctr"/>
          <a:lstStyle/>
          <a:p>
            <a:pPr algn="ctr" indent="0" marL="0">
              <a:buNone/>
            </a:pPr>
            <a:r>
              <a:rPr lang="en-US" sz="3600" b="1" dirty="0">
                <a:solidFill>
                  <a:srgbClr val="1B2C5B"/>
                </a:solidFill>
                <a:latin typeface="Cambria" pitchFamily="34" charset="0"/>
                <a:ea typeface="Cambria" pitchFamily="34" charset="-122"/>
                <a:cs typeface="Cambria" pitchFamily="34" charset="-120"/>
              </a:rPr>
              <a:t>2,500+</a:t>
            </a:r>
            <a:endParaRPr lang="en-US" sz="3600" dirty="0"/>
          </a:p>
        </p:txBody>
      </p:sp>
      <p:sp>
        <p:nvSpPr>
          <p:cNvPr id="9" name="Text 7"/>
          <p:cNvSpPr/>
          <p:nvPr/>
        </p:nvSpPr>
        <p:spPr>
          <a:xfrm>
            <a:off x="5257800" y="1783080"/>
            <a:ext cx="3291840" cy="320040"/>
          </a:xfrm>
          <a:prstGeom prst="rect">
            <a:avLst/>
          </a:prstGeom>
          <a:noFill/>
          <a:ln/>
        </p:spPr>
        <p:txBody>
          <a:bodyPr wrap="square" rtlCol="0" anchor="ctr"/>
          <a:lstStyle/>
          <a:p>
            <a:pPr algn="ctr" indent="0" marL="0">
              <a:buNone/>
            </a:pPr>
            <a:r>
              <a:rPr lang="en-US" sz="1100" dirty="0">
                <a:solidFill>
                  <a:srgbClr val="475569"/>
                </a:solidFill>
                <a:latin typeface="Calibri" pitchFamily="34" charset="0"/>
                <a:ea typeface="Calibri" pitchFamily="34" charset="-122"/>
                <a:cs typeface="Calibri" pitchFamily="34" charset="-120"/>
              </a:rPr>
              <a:t>Trading Days Analysed</a:t>
            </a:r>
            <a:endParaRPr lang="en-US" sz="1100" dirty="0"/>
          </a:p>
        </p:txBody>
      </p:sp>
      <p:sp>
        <p:nvSpPr>
          <p:cNvPr id="10" name="Shape 8"/>
          <p:cNvSpPr/>
          <p:nvPr/>
        </p:nvSpPr>
        <p:spPr>
          <a:xfrm>
            <a:off x="5074920" y="2395728"/>
            <a:ext cx="3657600" cy="1051560"/>
          </a:xfrm>
          <a:prstGeom prst="roundRect">
            <a:avLst>
              <a:gd name="adj" fmla="val 6957"/>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1" name="Text 9"/>
          <p:cNvSpPr/>
          <p:nvPr/>
        </p:nvSpPr>
        <p:spPr>
          <a:xfrm>
            <a:off x="5257800" y="2487168"/>
            <a:ext cx="3291840" cy="502920"/>
          </a:xfrm>
          <a:prstGeom prst="rect">
            <a:avLst/>
          </a:prstGeom>
          <a:noFill/>
          <a:ln/>
        </p:spPr>
        <p:txBody>
          <a:bodyPr wrap="square" rtlCol="0" anchor="ctr"/>
          <a:lstStyle/>
          <a:p>
            <a:pPr algn="ctr" indent="0" marL="0">
              <a:buNone/>
            </a:pPr>
            <a:r>
              <a:rPr lang="en-US" sz="3600" b="1" dirty="0">
                <a:solidFill>
                  <a:srgbClr val="1A7FA5"/>
                </a:solidFill>
                <a:latin typeface="Cambria" pitchFamily="34" charset="0"/>
                <a:ea typeface="Cambria" pitchFamily="34" charset="-122"/>
                <a:cs typeface="Cambria" pitchFamily="34" charset="-120"/>
              </a:rPr>
              <a:t>4</a:t>
            </a:r>
            <a:endParaRPr lang="en-US" sz="3600" dirty="0"/>
          </a:p>
        </p:txBody>
      </p:sp>
      <p:sp>
        <p:nvSpPr>
          <p:cNvPr id="12" name="Text 10"/>
          <p:cNvSpPr/>
          <p:nvPr/>
        </p:nvSpPr>
        <p:spPr>
          <a:xfrm>
            <a:off x="5257800" y="2990088"/>
            <a:ext cx="3291840" cy="320040"/>
          </a:xfrm>
          <a:prstGeom prst="rect">
            <a:avLst/>
          </a:prstGeom>
          <a:noFill/>
          <a:ln/>
        </p:spPr>
        <p:txBody>
          <a:bodyPr wrap="square" rtlCol="0" anchor="ctr"/>
          <a:lstStyle/>
          <a:p>
            <a:pPr algn="ctr" indent="0" marL="0">
              <a:buNone/>
            </a:pPr>
            <a:r>
              <a:rPr lang="en-US" sz="1100" dirty="0">
                <a:solidFill>
                  <a:srgbClr val="475569"/>
                </a:solidFill>
                <a:latin typeface="Calibri" pitchFamily="34" charset="0"/>
                <a:ea typeface="Calibri" pitchFamily="34" charset="-122"/>
                <a:cs typeface="Calibri" pitchFamily="34" charset="-120"/>
              </a:rPr>
              <a:t>Distinct Volatility Regimes</a:t>
            </a:r>
            <a:endParaRPr lang="en-US" sz="1100" dirty="0"/>
          </a:p>
        </p:txBody>
      </p:sp>
      <p:sp>
        <p:nvSpPr>
          <p:cNvPr id="13" name="Shape 11"/>
          <p:cNvSpPr/>
          <p:nvPr/>
        </p:nvSpPr>
        <p:spPr>
          <a:xfrm>
            <a:off x="5074920" y="3602736"/>
            <a:ext cx="3657600" cy="1051560"/>
          </a:xfrm>
          <a:prstGeom prst="roundRect">
            <a:avLst>
              <a:gd name="adj" fmla="val 6957"/>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4" name="Text 12"/>
          <p:cNvSpPr/>
          <p:nvPr/>
        </p:nvSpPr>
        <p:spPr>
          <a:xfrm>
            <a:off x="5257800" y="3694176"/>
            <a:ext cx="3291840" cy="502920"/>
          </a:xfrm>
          <a:prstGeom prst="rect">
            <a:avLst/>
          </a:prstGeom>
          <a:noFill/>
          <a:ln/>
        </p:spPr>
        <p:txBody>
          <a:bodyPr wrap="square" rtlCol="0" anchor="ctr"/>
          <a:lstStyle/>
          <a:p>
            <a:pPr algn="ctr" indent="0" marL="0">
              <a:buNone/>
            </a:pPr>
            <a:r>
              <a:rPr lang="en-US" sz="3600" b="1" dirty="0">
                <a:solidFill>
                  <a:srgbClr val="E67E22"/>
                </a:solidFill>
                <a:latin typeface="Cambria" pitchFamily="34" charset="0"/>
                <a:ea typeface="Cambria" pitchFamily="34" charset="-122"/>
                <a:cs typeface="Cambria" pitchFamily="34" charset="-120"/>
              </a:rPr>
              <a:t>α+β=0.90</a:t>
            </a:r>
            <a:endParaRPr lang="en-US" sz="3600" dirty="0"/>
          </a:p>
        </p:txBody>
      </p:sp>
      <p:sp>
        <p:nvSpPr>
          <p:cNvPr id="15" name="Text 13"/>
          <p:cNvSpPr/>
          <p:nvPr/>
        </p:nvSpPr>
        <p:spPr>
          <a:xfrm>
            <a:off x="5257800" y="4197096"/>
            <a:ext cx="3291840" cy="320040"/>
          </a:xfrm>
          <a:prstGeom prst="rect">
            <a:avLst/>
          </a:prstGeom>
          <a:noFill/>
          <a:ln/>
        </p:spPr>
        <p:txBody>
          <a:bodyPr wrap="square" rtlCol="0" anchor="ctr"/>
          <a:lstStyle/>
          <a:p>
            <a:pPr algn="ctr" indent="0" marL="0">
              <a:buNone/>
            </a:pPr>
            <a:r>
              <a:rPr lang="en-US" sz="1100" dirty="0">
                <a:solidFill>
                  <a:srgbClr val="475569"/>
                </a:solidFill>
                <a:latin typeface="Calibri" pitchFamily="34" charset="0"/>
                <a:ea typeface="Calibri" pitchFamily="34" charset="-122"/>
                <a:cs typeface="Calibri" pitchFamily="34" charset="-120"/>
              </a:rPr>
              <a:t>Volatility Persistence (GARCH)</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137160"/>
            <a:ext cx="2743200" cy="228600"/>
          </a:xfrm>
          <a:prstGeom prst="rect">
            <a:avLst/>
          </a:prstGeom>
          <a:noFill/>
          <a:ln/>
        </p:spPr>
        <p:txBody>
          <a:bodyPr wrap="square" rtlCol="0" anchor="ctr"/>
          <a:lstStyle/>
          <a:p>
            <a:pPr indent="0" marL="0">
              <a:buNone/>
            </a:pPr>
            <a:r>
              <a:rPr lang="en-US" sz="800" spc="200" kern="0" dirty="0">
                <a:solidFill>
                  <a:srgbClr val="1A7FA5"/>
                </a:solidFill>
                <a:latin typeface="Calibri" pitchFamily="34" charset="0"/>
                <a:ea typeface="Calibri" pitchFamily="34" charset="-122"/>
                <a:cs typeface="Calibri" pitchFamily="34" charset="-120"/>
              </a:rPr>
              <a:t>DATA &amp; METHODOLOGY</a:t>
            </a:r>
            <a:endParaRPr lang="en-US" sz="800" dirty="0"/>
          </a:p>
        </p:txBody>
      </p:sp>
      <p:sp>
        <p:nvSpPr>
          <p:cNvPr id="3" name="Text 1"/>
          <p:cNvSpPr/>
          <p:nvPr/>
        </p:nvSpPr>
        <p:spPr>
          <a:xfrm>
            <a:off x="457200" y="411480"/>
            <a:ext cx="8229600" cy="685800"/>
          </a:xfrm>
          <a:prstGeom prst="rect">
            <a:avLst/>
          </a:prstGeom>
          <a:noFill/>
          <a:ln/>
        </p:spPr>
        <p:txBody>
          <a:bodyPr wrap="square" lIns="0" tIns="0" rIns="0" bIns="0" rtlCol="0" anchor="ctr"/>
          <a:lstStyle/>
          <a:p>
            <a:pPr algn="l" indent="0" marL="0">
              <a:buNone/>
            </a:pPr>
            <a:r>
              <a:rPr lang="en-US" sz="3400" b="1" dirty="0">
                <a:solidFill>
                  <a:srgbClr val="1B2C5B"/>
                </a:solidFill>
                <a:latin typeface="Cambria" pitchFamily="34" charset="0"/>
                <a:ea typeface="Cambria" pitchFamily="34" charset="-122"/>
                <a:cs typeface="Cambria" pitchFamily="34" charset="-120"/>
              </a:rPr>
              <a:t>A Rigorous Analytical Pipeline</a:t>
            </a:r>
            <a:endParaRPr lang="en-US" sz="3400" dirty="0"/>
          </a:p>
        </p:txBody>
      </p:sp>
      <p:sp>
        <p:nvSpPr>
          <p:cNvPr id="4" name="Shape 2"/>
          <p:cNvSpPr/>
          <p:nvPr/>
        </p:nvSpPr>
        <p:spPr>
          <a:xfrm>
            <a:off x="320040" y="1234440"/>
            <a:ext cx="1536192" cy="3474720"/>
          </a:xfrm>
          <a:prstGeom prst="roundRect">
            <a:avLst>
              <a:gd name="adj" fmla="val 4762"/>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5" name="Shape 3"/>
          <p:cNvSpPr/>
          <p:nvPr/>
        </p:nvSpPr>
        <p:spPr>
          <a:xfrm>
            <a:off x="868680" y="1417320"/>
            <a:ext cx="438912" cy="438912"/>
          </a:xfrm>
          <a:prstGeom prst="ellipse">
            <a:avLst/>
          </a:prstGeom>
          <a:solidFill>
            <a:srgbClr val="1B2C5B"/>
          </a:solidFill>
          <a:ln w="12700">
            <a:solidFill>
              <a:srgbClr val="1B2C5B"/>
            </a:solidFill>
            <a:prstDash val="solid"/>
          </a:ln>
        </p:spPr>
      </p:sp>
      <p:sp>
        <p:nvSpPr>
          <p:cNvPr id="6" name="Text 4"/>
          <p:cNvSpPr/>
          <p:nvPr/>
        </p:nvSpPr>
        <p:spPr>
          <a:xfrm>
            <a:off x="868680" y="1417320"/>
            <a:ext cx="438912" cy="438912"/>
          </a:xfrm>
          <a:prstGeom prst="rect">
            <a:avLst/>
          </a:prstGeom>
          <a:noFill/>
          <a:ln/>
        </p:spPr>
        <p:txBody>
          <a:bodyPr wrap="square"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411480" y="1993392"/>
            <a:ext cx="1353312" cy="685800"/>
          </a:xfrm>
          <a:prstGeom prst="rect">
            <a:avLst/>
          </a:prstGeom>
          <a:noFill/>
          <a:ln/>
        </p:spPr>
        <p:txBody>
          <a:bodyPr wrap="square" rtlCol="0" anchor="ctr"/>
          <a:lstStyle/>
          <a:p>
            <a:pPr algn="ctr" indent="0" marL="0">
              <a:buNone/>
            </a:pPr>
            <a:r>
              <a:rPr lang="en-US" sz="1200" b="1" dirty="0">
                <a:solidFill>
                  <a:srgbClr val="1B2C5B"/>
                </a:solidFill>
                <a:latin typeface="Cambria" pitchFamily="34" charset="0"/>
                <a:ea typeface="Cambria" pitchFamily="34" charset="-122"/>
                <a:cs typeface="Cambria" pitchFamily="34" charset="-120"/>
              </a:rPr>
              <a:t>Exploratory</a:t>
            </a:r>
            <a:endParaRPr lang="en-US" sz="1200" dirty="0"/>
          </a:p>
          <a:p>
            <a:pPr algn="ctr" indent="0" marL="0">
              <a:buNone/>
            </a:pPr>
            <a:r>
              <a:rPr lang="en-US" sz="1200" b="1" dirty="0">
                <a:solidFill>
                  <a:srgbClr val="1B2C5B"/>
                </a:solidFill>
                <a:latin typeface="Cambria" pitchFamily="34" charset="0"/>
                <a:ea typeface="Cambria" pitchFamily="34" charset="-122"/>
                <a:cs typeface="Cambria" pitchFamily="34" charset="-120"/>
              </a:rPr>
              <a:t>Data Analysis</a:t>
            </a:r>
            <a:endParaRPr lang="en-US" sz="1200" dirty="0"/>
          </a:p>
        </p:txBody>
      </p:sp>
      <p:sp>
        <p:nvSpPr>
          <p:cNvPr id="8" name="Text 6"/>
          <p:cNvSpPr/>
          <p:nvPr/>
        </p:nvSpPr>
        <p:spPr>
          <a:xfrm>
            <a:off x="411480" y="2743200"/>
            <a:ext cx="1353312" cy="1737360"/>
          </a:xfrm>
          <a:prstGeom prst="rect">
            <a:avLst/>
          </a:prstGeom>
          <a:noFill/>
          <a:ln/>
        </p:spPr>
        <p:txBody>
          <a:bodyPr wrap="square" rtlCol="0" anchor="t"/>
          <a:lstStyle/>
          <a:p>
            <a:pPr algn="ctr" indent="0" marL="0">
              <a:buNone/>
            </a:pPr>
            <a:r>
              <a:rPr lang="en-US" sz="1000" dirty="0">
                <a:solidFill>
                  <a:srgbClr val="475569"/>
                </a:solidFill>
                <a:latin typeface="Calibri" pitchFamily="34" charset="0"/>
                <a:ea typeface="Calibri" pitchFamily="34" charset="-122"/>
                <a:cs typeface="Calibri" pitchFamily="34" charset="-120"/>
              </a:rPr>
              <a:t>Price, volume, return distributions. Non-normality tests.</a:t>
            </a:r>
            <a:endParaRPr lang="en-US" sz="1000" dirty="0"/>
          </a:p>
        </p:txBody>
      </p:sp>
      <p:sp>
        <p:nvSpPr>
          <p:cNvPr id="9" name="Shape 7"/>
          <p:cNvSpPr/>
          <p:nvPr/>
        </p:nvSpPr>
        <p:spPr>
          <a:xfrm>
            <a:off x="2029968" y="1234440"/>
            <a:ext cx="1536192" cy="3474720"/>
          </a:xfrm>
          <a:prstGeom prst="roundRect">
            <a:avLst>
              <a:gd name="adj" fmla="val 4762"/>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0" name="Shape 8"/>
          <p:cNvSpPr/>
          <p:nvPr/>
        </p:nvSpPr>
        <p:spPr>
          <a:xfrm>
            <a:off x="2578608" y="1417320"/>
            <a:ext cx="438912" cy="438912"/>
          </a:xfrm>
          <a:prstGeom prst="ellipse">
            <a:avLst/>
          </a:prstGeom>
          <a:solidFill>
            <a:srgbClr val="1A7FA5"/>
          </a:solidFill>
          <a:ln w="12700">
            <a:solidFill>
              <a:srgbClr val="1A7FA5"/>
            </a:solidFill>
            <a:prstDash val="solid"/>
          </a:ln>
        </p:spPr>
      </p:sp>
      <p:sp>
        <p:nvSpPr>
          <p:cNvPr id="11" name="Text 9"/>
          <p:cNvSpPr/>
          <p:nvPr/>
        </p:nvSpPr>
        <p:spPr>
          <a:xfrm>
            <a:off x="2578608" y="1417320"/>
            <a:ext cx="438912" cy="438912"/>
          </a:xfrm>
          <a:prstGeom prst="rect">
            <a:avLst/>
          </a:prstGeom>
          <a:noFill/>
          <a:ln/>
        </p:spPr>
        <p:txBody>
          <a:bodyPr wrap="square"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p:nvPr/>
        </p:nvSpPr>
        <p:spPr>
          <a:xfrm>
            <a:off x="2121408" y="1993392"/>
            <a:ext cx="1353312" cy="685800"/>
          </a:xfrm>
          <a:prstGeom prst="rect">
            <a:avLst/>
          </a:prstGeom>
          <a:noFill/>
          <a:ln/>
        </p:spPr>
        <p:txBody>
          <a:bodyPr wrap="square" rtlCol="0" anchor="ctr"/>
          <a:lstStyle/>
          <a:p>
            <a:pPr algn="ctr" indent="0" marL="0">
              <a:buNone/>
            </a:pPr>
            <a:r>
              <a:rPr lang="en-US" sz="1200" b="1" dirty="0">
                <a:solidFill>
                  <a:srgbClr val="1B2C5B"/>
                </a:solidFill>
                <a:latin typeface="Cambria" pitchFamily="34" charset="0"/>
                <a:ea typeface="Cambria" pitchFamily="34" charset="-122"/>
                <a:cs typeface="Cambria" pitchFamily="34" charset="-120"/>
              </a:rPr>
              <a:t>Stationarity</a:t>
            </a:r>
            <a:endParaRPr lang="en-US" sz="1200" dirty="0"/>
          </a:p>
          <a:p>
            <a:pPr algn="ctr" indent="0" marL="0">
              <a:buNone/>
            </a:pPr>
            <a:r>
              <a:rPr lang="en-US" sz="1200" b="1" dirty="0">
                <a:solidFill>
                  <a:srgbClr val="1B2C5B"/>
                </a:solidFill>
                <a:latin typeface="Cambria" pitchFamily="34" charset="0"/>
                <a:ea typeface="Cambria" pitchFamily="34" charset="-122"/>
                <a:cs typeface="Cambria" pitchFamily="34" charset="-120"/>
              </a:rPr>
              <a:t>&amp; Decomposition</a:t>
            </a:r>
            <a:endParaRPr lang="en-US" sz="1200" dirty="0"/>
          </a:p>
        </p:txBody>
      </p:sp>
      <p:sp>
        <p:nvSpPr>
          <p:cNvPr id="13" name="Text 11"/>
          <p:cNvSpPr/>
          <p:nvPr/>
        </p:nvSpPr>
        <p:spPr>
          <a:xfrm>
            <a:off x="2121408" y="2743200"/>
            <a:ext cx="1353312" cy="1737360"/>
          </a:xfrm>
          <a:prstGeom prst="rect">
            <a:avLst/>
          </a:prstGeom>
          <a:noFill/>
          <a:ln/>
        </p:spPr>
        <p:txBody>
          <a:bodyPr wrap="square" rtlCol="0" anchor="t"/>
          <a:lstStyle/>
          <a:p>
            <a:pPr algn="ctr" indent="0" marL="0">
              <a:buNone/>
            </a:pPr>
            <a:r>
              <a:rPr lang="en-US" sz="1000" dirty="0">
                <a:solidFill>
                  <a:srgbClr val="475569"/>
                </a:solidFill>
                <a:latin typeface="Calibri" pitchFamily="34" charset="0"/>
                <a:ea typeface="Calibri" pitchFamily="34" charset="-122"/>
                <a:cs typeface="Calibri" pitchFamily="34" charset="-120"/>
              </a:rPr>
              <a:t>ADF, KPSS, Phillips-Perron. STL decomposition (period=252).</a:t>
            </a:r>
            <a:endParaRPr lang="en-US" sz="1000" dirty="0"/>
          </a:p>
        </p:txBody>
      </p:sp>
      <p:sp>
        <p:nvSpPr>
          <p:cNvPr id="14" name="Shape 12"/>
          <p:cNvSpPr/>
          <p:nvPr/>
        </p:nvSpPr>
        <p:spPr>
          <a:xfrm>
            <a:off x="3739896" y="1234440"/>
            <a:ext cx="1536192" cy="3474720"/>
          </a:xfrm>
          <a:prstGeom prst="roundRect">
            <a:avLst>
              <a:gd name="adj" fmla="val 4762"/>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5" name="Shape 13"/>
          <p:cNvSpPr/>
          <p:nvPr/>
        </p:nvSpPr>
        <p:spPr>
          <a:xfrm>
            <a:off x="4288536" y="1417320"/>
            <a:ext cx="438912" cy="438912"/>
          </a:xfrm>
          <a:prstGeom prst="ellipse">
            <a:avLst/>
          </a:prstGeom>
          <a:solidFill>
            <a:srgbClr val="2980B9"/>
          </a:solidFill>
          <a:ln w="12700">
            <a:solidFill>
              <a:srgbClr val="2980B9"/>
            </a:solidFill>
            <a:prstDash val="solid"/>
          </a:ln>
        </p:spPr>
      </p:sp>
      <p:sp>
        <p:nvSpPr>
          <p:cNvPr id="16" name="Text 14"/>
          <p:cNvSpPr/>
          <p:nvPr/>
        </p:nvSpPr>
        <p:spPr>
          <a:xfrm>
            <a:off x="4288536" y="1417320"/>
            <a:ext cx="438912" cy="438912"/>
          </a:xfrm>
          <a:prstGeom prst="rect">
            <a:avLst/>
          </a:prstGeom>
          <a:noFill/>
          <a:ln/>
        </p:spPr>
        <p:txBody>
          <a:bodyPr wrap="square"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p:nvPr/>
        </p:nvSpPr>
        <p:spPr>
          <a:xfrm>
            <a:off x="3831336" y="1993392"/>
            <a:ext cx="1353312" cy="685800"/>
          </a:xfrm>
          <a:prstGeom prst="rect">
            <a:avLst/>
          </a:prstGeom>
          <a:noFill/>
          <a:ln/>
        </p:spPr>
        <p:txBody>
          <a:bodyPr wrap="square" rtlCol="0" anchor="ctr"/>
          <a:lstStyle/>
          <a:p>
            <a:pPr algn="ctr" indent="0" marL="0">
              <a:buNone/>
            </a:pPr>
            <a:r>
              <a:rPr lang="en-US" sz="1200" b="1" dirty="0">
                <a:solidFill>
                  <a:srgbClr val="1B2C5B"/>
                </a:solidFill>
                <a:latin typeface="Cambria" pitchFamily="34" charset="0"/>
                <a:ea typeface="Cambria" pitchFamily="34" charset="-122"/>
                <a:cs typeface="Cambria" pitchFamily="34" charset="-120"/>
              </a:rPr>
              <a:t>GARCH(1,1)</a:t>
            </a:r>
            <a:endParaRPr lang="en-US" sz="1200" dirty="0"/>
          </a:p>
          <a:p>
            <a:pPr algn="ctr" indent="0" marL="0">
              <a:buNone/>
            </a:pPr>
            <a:r>
              <a:rPr lang="en-US" sz="1200" b="1" dirty="0">
                <a:solidFill>
                  <a:srgbClr val="1B2C5B"/>
                </a:solidFill>
                <a:latin typeface="Cambria" pitchFamily="34" charset="0"/>
                <a:ea typeface="Cambria" pitchFamily="34" charset="-122"/>
                <a:cs typeface="Cambria" pitchFamily="34" charset="-120"/>
              </a:rPr>
              <a:t>Fitting</a:t>
            </a:r>
            <a:endParaRPr lang="en-US" sz="1200" dirty="0"/>
          </a:p>
        </p:txBody>
      </p:sp>
      <p:sp>
        <p:nvSpPr>
          <p:cNvPr id="18" name="Text 16"/>
          <p:cNvSpPr/>
          <p:nvPr/>
        </p:nvSpPr>
        <p:spPr>
          <a:xfrm>
            <a:off x="3831336" y="2743200"/>
            <a:ext cx="1353312" cy="1737360"/>
          </a:xfrm>
          <a:prstGeom prst="rect">
            <a:avLst/>
          </a:prstGeom>
          <a:noFill/>
          <a:ln/>
        </p:spPr>
        <p:txBody>
          <a:bodyPr wrap="square" rtlCol="0" anchor="t"/>
          <a:lstStyle/>
          <a:p>
            <a:pPr algn="ctr" indent="0" marL="0">
              <a:buNone/>
            </a:pPr>
            <a:r>
              <a:rPr lang="en-US" sz="1000" dirty="0">
                <a:solidFill>
                  <a:srgbClr val="475569"/>
                </a:solidFill>
                <a:latin typeface="Calibri" pitchFamily="34" charset="0"/>
                <a:ea typeface="Calibri" pitchFamily="34" charset="-122"/>
                <a:cs typeface="Calibri" pitchFamily="34" charset="-120"/>
              </a:rPr>
              <a:t>Student-t errors. 2,500 obs. AIC-optimal. ARCH LM test.</a:t>
            </a:r>
            <a:endParaRPr lang="en-US" sz="1000" dirty="0"/>
          </a:p>
        </p:txBody>
      </p:sp>
      <p:sp>
        <p:nvSpPr>
          <p:cNvPr id="19" name="Shape 17"/>
          <p:cNvSpPr/>
          <p:nvPr/>
        </p:nvSpPr>
        <p:spPr>
          <a:xfrm>
            <a:off x="5449824" y="1234440"/>
            <a:ext cx="1536192" cy="3474720"/>
          </a:xfrm>
          <a:prstGeom prst="roundRect">
            <a:avLst>
              <a:gd name="adj" fmla="val 4762"/>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20" name="Shape 18"/>
          <p:cNvSpPr/>
          <p:nvPr/>
        </p:nvSpPr>
        <p:spPr>
          <a:xfrm>
            <a:off x="5998464" y="1417320"/>
            <a:ext cx="438912" cy="438912"/>
          </a:xfrm>
          <a:prstGeom prst="ellipse">
            <a:avLst/>
          </a:prstGeom>
          <a:solidFill>
            <a:srgbClr val="E67E22"/>
          </a:solidFill>
          <a:ln w="12700">
            <a:solidFill>
              <a:srgbClr val="E67E22"/>
            </a:solidFill>
            <a:prstDash val="solid"/>
          </a:ln>
        </p:spPr>
      </p:sp>
      <p:sp>
        <p:nvSpPr>
          <p:cNvPr id="21" name="Text 19"/>
          <p:cNvSpPr/>
          <p:nvPr/>
        </p:nvSpPr>
        <p:spPr>
          <a:xfrm>
            <a:off x="5998464" y="1417320"/>
            <a:ext cx="438912" cy="438912"/>
          </a:xfrm>
          <a:prstGeom prst="rect">
            <a:avLst/>
          </a:prstGeom>
          <a:noFill/>
          <a:ln/>
        </p:spPr>
        <p:txBody>
          <a:bodyPr wrap="square"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p:nvPr/>
        </p:nvSpPr>
        <p:spPr>
          <a:xfrm>
            <a:off x="5541264" y="1993392"/>
            <a:ext cx="1353312" cy="685800"/>
          </a:xfrm>
          <a:prstGeom prst="rect">
            <a:avLst/>
          </a:prstGeom>
          <a:noFill/>
          <a:ln/>
        </p:spPr>
        <p:txBody>
          <a:bodyPr wrap="square" rtlCol="0" anchor="ctr"/>
          <a:lstStyle/>
          <a:p>
            <a:pPr algn="ctr" indent="0" marL="0">
              <a:buNone/>
            </a:pPr>
            <a:r>
              <a:rPr lang="en-US" sz="1200" b="1" dirty="0">
                <a:solidFill>
                  <a:srgbClr val="1B2C5B"/>
                </a:solidFill>
                <a:latin typeface="Cambria" pitchFamily="34" charset="0"/>
                <a:ea typeface="Cambria" pitchFamily="34" charset="-122"/>
                <a:cs typeface="Cambria" pitchFamily="34" charset="-120"/>
              </a:rPr>
              <a:t>Regime</a:t>
            </a:r>
            <a:endParaRPr lang="en-US" sz="1200" dirty="0"/>
          </a:p>
          <a:p>
            <a:pPr algn="ctr" indent="0" marL="0">
              <a:buNone/>
            </a:pPr>
            <a:r>
              <a:rPr lang="en-US" sz="1200" b="1" dirty="0">
                <a:solidFill>
                  <a:srgbClr val="1B2C5B"/>
                </a:solidFill>
                <a:latin typeface="Cambria" pitchFamily="34" charset="0"/>
                <a:ea typeface="Cambria" pitchFamily="34" charset="-122"/>
                <a:cs typeface="Cambria" pitchFamily="34" charset="-120"/>
              </a:rPr>
              <a:t>Detection</a:t>
            </a:r>
            <a:endParaRPr lang="en-US" sz="1200" dirty="0"/>
          </a:p>
        </p:txBody>
      </p:sp>
      <p:sp>
        <p:nvSpPr>
          <p:cNvPr id="23" name="Text 21"/>
          <p:cNvSpPr/>
          <p:nvPr/>
        </p:nvSpPr>
        <p:spPr>
          <a:xfrm>
            <a:off x="5541264" y="2743200"/>
            <a:ext cx="1353312" cy="1737360"/>
          </a:xfrm>
          <a:prstGeom prst="rect">
            <a:avLst/>
          </a:prstGeom>
          <a:noFill/>
          <a:ln/>
        </p:spPr>
        <p:txBody>
          <a:bodyPr wrap="square" rtlCol="0" anchor="t"/>
          <a:lstStyle/>
          <a:p>
            <a:pPr algn="ctr" indent="0" marL="0">
              <a:buNone/>
            </a:pPr>
            <a:r>
              <a:rPr lang="en-US" sz="1000" dirty="0">
                <a:solidFill>
                  <a:srgbClr val="475569"/>
                </a:solidFill>
                <a:latin typeface="Calibri" pitchFamily="34" charset="0"/>
                <a:ea typeface="Calibri" pitchFamily="34" charset="-122"/>
                <a:cs typeface="Calibri" pitchFamily="34" charset="-120"/>
              </a:rPr>
              <a:t>GMM k=4 (BIC-optimal). Ruptures PELT structural breaks.</a:t>
            </a:r>
            <a:endParaRPr lang="en-US" sz="1000" dirty="0"/>
          </a:p>
        </p:txBody>
      </p:sp>
      <p:sp>
        <p:nvSpPr>
          <p:cNvPr id="24" name="Shape 22"/>
          <p:cNvSpPr/>
          <p:nvPr/>
        </p:nvSpPr>
        <p:spPr>
          <a:xfrm>
            <a:off x="7159752" y="1234440"/>
            <a:ext cx="1536192" cy="3474720"/>
          </a:xfrm>
          <a:prstGeom prst="roundRect">
            <a:avLst>
              <a:gd name="adj" fmla="val 4762"/>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25" name="Shape 23"/>
          <p:cNvSpPr/>
          <p:nvPr/>
        </p:nvSpPr>
        <p:spPr>
          <a:xfrm>
            <a:off x="7708392" y="1417320"/>
            <a:ext cx="438912" cy="438912"/>
          </a:xfrm>
          <a:prstGeom prst="ellipse">
            <a:avLst/>
          </a:prstGeom>
          <a:solidFill>
            <a:srgbClr val="27AE60"/>
          </a:solidFill>
          <a:ln w="12700">
            <a:solidFill>
              <a:srgbClr val="27AE60"/>
            </a:solidFill>
            <a:prstDash val="solid"/>
          </a:ln>
        </p:spPr>
      </p:sp>
      <p:sp>
        <p:nvSpPr>
          <p:cNvPr id="26" name="Text 24"/>
          <p:cNvSpPr/>
          <p:nvPr/>
        </p:nvSpPr>
        <p:spPr>
          <a:xfrm>
            <a:off x="7708392" y="1417320"/>
            <a:ext cx="438912" cy="438912"/>
          </a:xfrm>
          <a:prstGeom prst="rect">
            <a:avLst/>
          </a:prstGeom>
          <a:noFill/>
          <a:ln/>
        </p:spPr>
        <p:txBody>
          <a:bodyPr wrap="square"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7" name="Text 25"/>
          <p:cNvSpPr/>
          <p:nvPr/>
        </p:nvSpPr>
        <p:spPr>
          <a:xfrm>
            <a:off x="7251192" y="1993392"/>
            <a:ext cx="1353312" cy="685800"/>
          </a:xfrm>
          <a:prstGeom prst="rect">
            <a:avLst/>
          </a:prstGeom>
          <a:noFill/>
          <a:ln/>
        </p:spPr>
        <p:txBody>
          <a:bodyPr wrap="square" rtlCol="0" anchor="ctr"/>
          <a:lstStyle/>
          <a:p>
            <a:pPr algn="ctr" indent="0" marL="0">
              <a:buNone/>
            </a:pPr>
            <a:r>
              <a:rPr lang="en-US" sz="1200" b="1" dirty="0">
                <a:solidFill>
                  <a:srgbClr val="1B2C5B"/>
                </a:solidFill>
                <a:latin typeface="Cambria" pitchFamily="34" charset="0"/>
                <a:ea typeface="Cambria" pitchFamily="34" charset="-122"/>
                <a:cs typeface="Cambria" pitchFamily="34" charset="-120"/>
              </a:rPr>
              <a:t>VaR</a:t>
            </a:r>
            <a:endParaRPr lang="en-US" sz="1200" dirty="0"/>
          </a:p>
          <a:p>
            <a:pPr algn="ctr" indent="0" marL="0">
              <a:buNone/>
            </a:pPr>
            <a:r>
              <a:rPr lang="en-US" sz="1200" b="1" dirty="0">
                <a:solidFill>
                  <a:srgbClr val="1B2C5B"/>
                </a:solidFill>
                <a:latin typeface="Cambria" pitchFamily="34" charset="0"/>
                <a:ea typeface="Cambria" pitchFamily="34" charset="-122"/>
                <a:cs typeface="Cambria" pitchFamily="34" charset="-120"/>
              </a:rPr>
              <a:t>Backtesting</a:t>
            </a:r>
            <a:endParaRPr lang="en-US" sz="1200" dirty="0"/>
          </a:p>
        </p:txBody>
      </p:sp>
      <p:sp>
        <p:nvSpPr>
          <p:cNvPr id="28" name="Text 26"/>
          <p:cNvSpPr/>
          <p:nvPr/>
        </p:nvSpPr>
        <p:spPr>
          <a:xfrm>
            <a:off x="7251192" y="2743200"/>
            <a:ext cx="1353312" cy="1737360"/>
          </a:xfrm>
          <a:prstGeom prst="rect">
            <a:avLst/>
          </a:prstGeom>
          <a:noFill/>
          <a:ln/>
        </p:spPr>
        <p:txBody>
          <a:bodyPr wrap="square" rtlCol="0" anchor="t"/>
          <a:lstStyle/>
          <a:p>
            <a:pPr algn="ctr" indent="0" marL="0">
              <a:buNone/>
            </a:pPr>
            <a:r>
              <a:rPr lang="en-US" sz="1000" dirty="0">
                <a:solidFill>
                  <a:srgbClr val="475569"/>
                </a:solidFill>
                <a:latin typeface="Calibri" pitchFamily="34" charset="0"/>
                <a:ea typeface="Calibri" pitchFamily="34" charset="-122"/>
                <a:cs typeface="Calibri" pitchFamily="34" charset="-120"/>
              </a:rPr>
              <a:t>Kupiec proportion-of-failures test at 95% confidence.</a:t>
            </a:r>
            <a:endParaRPr lang="en-US" sz="1000" dirty="0"/>
          </a:p>
        </p:txBody>
      </p:sp>
      <p:sp>
        <p:nvSpPr>
          <p:cNvPr id="29" name="Text 27"/>
          <p:cNvSpPr/>
          <p:nvPr/>
        </p:nvSpPr>
        <p:spPr>
          <a:xfrm>
            <a:off x="457200" y="4754880"/>
            <a:ext cx="8229600" cy="274320"/>
          </a:xfrm>
          <a:prstGeom prst="rect">
            <a:avLst/>
          </a:prstGeom>
          <a:noFill/>
          <a:ln/>
        </p:spPr>
        <p:txBody>
          <a:bodyPr wrap="square" rtlCol="0" anchor="ctr"/>
          <a:lstStyle/>
          <a:p>
            <a:pPr algn="ctr" indent="0" marL="0">
              <a:buNone/>
            </a:pPr>
            <a:r>
              <a:rPr lang="en-US" sz="900" i="1" dirty="0">
                <a:solidFill>
                  <a:srgbClr val="475569"/>
                </a:solidFill>
                <a:latin typeface="Calibri" pitchFamily="34" charset="0"/>
                <a:ea typeface="Calibri" pitchFamily="34" charset="-122"/>
                <a:cs typeface="Calibri" pitchFamily="34" charset="-120"/>
              </a:rPr>
              <a:t>Data: SAFCOM NSE · 2020–2025 (XLSX base) + afrimarket validation | Extended to Jun 2026 via EODHD API</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137160"/>
            <a:ext cx="2743200" cy="228600"/>
          </a:xfrm>
          <a:prstGeom prst="rect">
            <a:avLst/>
          </a:prstGeom>
          <a:noFill/>
          <a:ln/>
        </p:spPr>
        <p:txBody>
          <a:bodyPr wrap="square" rtlCol="0" anchor="ctr"/>
          <a:lstStyle/>
          <a:p>
            <a:pPr indent="0" marL="0">
              <a:buNone/>
            </a:pPr>
            <a:r>
              <a:rPr lang="en-US" sz="800" spc="200" kern="0" dirty="0">
                <a:solidFill>
                  <a:srgbClr val="1A7FA5"/>
                </a:solidFill>
                <a:latin typeface="Calibri" pitchFamily="34" charset="0"/>
                <a:ea typeface="Calibri" pitchFamily="34" charset="-122"/>
                <a:cs typeface="Calibri" pitchFamily="34" charset="-120"/>
              </a:rPr>
              <a:t>SAFARICOM EQUITY BEHAVIOUR</a:t>
            </a:r>
            <a:endParaRPr lang="en-US" sz="800" dirty="0"/>
          </a:p>
        </p:txBody>
      </p:sp>
      <p:sp>
        <p:nvSpPr>
          <p:cNvPr id="3" name="Text 1"/>
          <p:cNvSpPr/>
          <p:nvPr/>
        </p:nvSpPr>
        <p:spPr>
          <a:xfrm>
            <a:off x="457200" y="411480"/>
            <a:ext cx="8229600" cy="685800"/>
          </a:xfrm>
          <a:prstGeom prst="rect">
            <a:avLst/>
          </a:prstGeom>
          <a:noFill/>
          <a:ln/>
        </p:spPr>
        <p:txBody>
          <a:bodyPr wrap="square" lIns="0" tIns="0" rIns="0" bIns="0" rtlCol="0" anchor="ctr"/>
          <a:lstStyle/>
          <a:p>
            <a:pPr algn="l" indent="0" marL="0">
              <a:buNone/>
            </a:pPr>
            <a:r>
              <a:rPr lang="en-US" sz="3400" b="1" dirty="0">
                <a:solidFill>
                  <a:srgbClr val="1B2C5B"/>
                </a:solidFill>
                <a:latin typeface="Cambria" pitchFamily="34" charset="0"/>
                <a:ea typeface="Cambria" pitchFamily="34" charset="-122"/>
                <a:cs typeface="Cambria" pitchFamily="34" charset="-120"/>
              </a:rPr>
              <a:t>Returns Are Fat-Tailed &amp; Non-Normal</a:t>
            </a:r>
            <a:endParaRPr lang="en-US" sz="3400" dirty="0"/>
          </a:p>
        </p:txBody>
      </p:sp>
      <p:sp>
        <p:nvSpPr>
          <p:cNvPr id="4" name="Shape 2"/>
          <p:cNvSpPr/>
          <p:nvPr/>
        </p:nvSpPr>
        <p:spPr>
          <a:xfrm>
            <a:off x="365760" y="1234440"/>
            <a:ext cx="4206240" cy="3520440"/>
          </a:xfrm>
          <a:prstGeom prst="roundRect">
            <a:avLst>
              <a:gd name="adj" fmla="val 2078"/>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594360" y="1417320"/>
            <a:ext cx="3749040" cy="365760"/>
          </a:xfrm>
          <a:prstGeom prst="rect">
            <a:avLst/>
          </a:prstGeom>
          <a:noFill/>
          <a:ln/>
        </p:spPr>
        <p:txBody>
          <a:bodyPr wrap="square" rtlCol="0" anchor="ctr"/>
          <a:lstStyle/>
          <a:p>
            <a:pPr indent="0" marL="0">
              <a:buNone/>
            </a:pPr>
            <a:r>
              <a:rPr lang="en-US" sz="1400" b="1" dirty="0">
                <a:solidFill>
                  <a:srgbClr val="1B2C5B"/>
                </a:solidFill>
                <a:latin typeface="Cambria" pitchFamily="34" charset="0"/>
                <a:ea typeface="Cambria" pitchFamily="34" charset="-122"/>
                <a:cs typeface="Cambria" pitchFamily="34" charset="-120"/>
              </a:rPr>
              <a:t>Key Findings from EDA</a:t>
            </a:r>
            <a:endParaRPr lang="en-US" sz="1400" dirty="0"/>
          </a:p>
        </p:txBody>
      </p:sp>
      <p:sp>
        <p:nvSpPr>
          <p:cNvPr id="6" name="Text 4"/>
          <p:cNvSpPr/>
          <p:nvPr/>
        </p:nvSpPr>
        <p:spPr>
          <a:xfrm>
            <a:off x="594360" y="1874520"/>
            <a:ext cx="3749040" cy="502920"/>
          </a:xfrm>
          <a:prstGeom prst="rect">
            <a:avLst/>
          </a:prstGeom>
          <a:noFill/>
          <a:ln/>
        </p:spPr>
        <p:txBody>
          <a:bodyPr wrap="square" rtlCol="0" anchor="ctr"/>
          <a:lstStyle/>
          <a:p>
            <a:pPr indent="0" marL="0">
              <a:buNone/>
            </a:pPr>
            <a:r>
              <a:rPr lang="en-US" sz="1200" b="1" dirty="0">
                <a:solidFill>
                  <a:srgbClr val="1A7FA5"/>
                </a:solidFill>
                <a:latin typeface="Calibri" pitchFamily="34" charset="0"/>
                <a:ea typeface="Calibri" pitchFamily="34" charset="-122"/>
                <a:cs typeface="Calibri" pitchFamily="34" charset="-120"/>
              </a:rPr>
              <a:t>→  </a:t>
            </a:r>
            <a:pPr indent="0" marL="0">
              <a:buNone/>
            </a:pPr>
            <a:r>
              <a:rPr lang="en-US" sz="1200" dirty="0">
                <a:solidFill>
                  <a:srgbClr val="1A1A2E"/>
                </a:solidFill>
                <a:latin typeface="Calibri" pitchFamily="34" charset="0"/>
                <a:ea typeface="Calibri" pitchFamily="34" charset="-122"/>
                <a:cs typeface="Calibri" pitchFamily="34" charset="-120"/>
              </a:rPr>
              <a:t>Full-period skewness: +0.32 (right-skewed — large upside shocks more frequent than normal dist. predicts)</a:t>
            </a:r>
            <a:endParaRPr lang="en-US" sz="1200" dirty="0"/>
          </a:p>
        </p:txBody>
      </p:sp>
      <p:sp>
        <p:nvSpPr>
          <p:cNvPr id="7" name="Text 5"/>
          <p:cNvSpPr/>
          <p:nvPr/>
        </p:nvSpPr>
        <p:spPr>
          <a:xfrm>
            <a:off x="594360" y="2423160"/>
            <a:ext cx="3749040" cy="502920"/>
          </a:xfrm>
          <a:prstGeom prst="rect">
            <a:avLst/>
          </a:prstGeom>
          <a:noFill/>
          <a:ln/>
        </p:spPr>
        <p:txBody>
          <a:bodyPr wrap="square" rtlCol="0" anchor="ctr"/>
          <a:lstStyle/>
          <a:p>
            <a:pPr indent="0" marL="0">
              <a:buNone/>
            </a:pPr>
            <a:r>
              <a:rPr lang="en-US" sz="1200" b="1" dirty="0">
                <a:solidFill>
                  <a:srgbClr val="1A7FA5"/>
                </a:solidFill>
                <a:latin typeface="Calibri" pitchFamily="34" charset="0"/>
                <a:ea typeface="Calibri" pitchFamily="34" charset="-122"/>
                <a:cs typeface="Calibri" pitchFamily="34" charset="-120"/>
              </a:rPr>
              <a:t>→  </a:t>
            </a:r>
            <a:pPr indent="0" marL="0">
              <a:buNone/>
            </a:pPr>
            <a:r>
              <a:rPr lang="en-US" sz="1200" dirty="0">
                <a:solidFill>
                  <a:srgbClr val="1A1A2E"/>
                </a:solidFill>
                <a:latin typeface="Calibri" pitchFamily="34" charset="0"/>
                <a:ea typeface="Calibri" pitchFamily="34" charset="-122"/>
                <a:cs typeface="Calibri" pitchFamily="34" charset="-120"/>
              </a:rPr>
              <a:t>Excess kurtosis: heavy tails confirmed. Jarque-Bera rejects normality.</a:t>
            </a:r>
            <a:endParaRPr lang="en-US" sz="1200" dirty="0"/>
          </a:p>
        </p:txBody>
      </p:sp>
      <p:sp>
        <p:nvSpPr>
          <p:cNvPr id="8" name="Text 6"/>
          <p:cNvSpPr/>
          <p:nvPr/>
        </p:nvSpPr>
        <p:spPr>
          <a:xfrm>
            <a:off x="594360" y="2971800"/>
            <a:ext cx="3749040" cy="502920"/>
          </a:xfrm>
          <a:prstGeom prst="rect">
            <a:avLst/>
          </a:prstGeom>
          <a:noFill/>
          <a:ln/>
        </p:spPr>
        <p:txBody>
          <a:bodyPr wrap="square" rtlCol="0" anchor="ctr"/>
          <a:lstStyle/>
          <a:p>
            <a:pPr indent="0" marL="0">
              <a:buNone/>
            </a:pPr>
            <a:r>
              <a:rPr lang="en-US" sz="1200" b="1" dirty="0">
                <a:solidFill>
                  <a:srgbClr val="1A7FA5"/>
                </a:solidFill>
                <a:latin typeface="Calibri" pitchFamily="34" charset="0"/>
                <a:ea typeface="Calibri" pitchFamily="34" charset="-122"/>
                <a:cs typeface="Calibri" pitchFamily="34" charset="-120"/>
              </a:rPr>
              <a:t>→  </a:t>
            </a:r>
            <a:pPr indent="0" marL="0">
              <a:buNone/>
            </a:pPr>
            <a:r>
              <a:rPr lang="en-US" sz="1200" dirty="0">
                <a:solidFill>
                  <a:srgbClr val="1A1A2E"/>
                </a:solidFill>
                <a:latin typeface="Calibri" pitchFamily="34" charset="0"/>
                <a:ea typeface="Calibri" pitchFamily="34" charset="-122"/>
                <a:cs typeface="Calibri" pitchFamily="34" charset="-120"/>
              </a:rPr>
              <a:t>ARCH LM test p-value: 1.2×10⁻²² — volatility clustering is highly significant.</a:t>
            </a:r>
            <a:endParaRPr lang="en-US" sz="1200" dirty="0"/>
          </a:p>
        </p:txBody>
      </p:sp>
      <p:sp>
        <p:nvSpPr>
          <p:cNvPr id="9" name="Text 7"/>
          <p:cNvSpPr/>
          <p:nvPr/>
        </p:nvSpPr>
        <p:spPr>
          <a:xfrm>
            <a:off x="594360" y="3520440"/>
            <a:ext cx="3749040" cy="502920"/>
          </a:xfrm>
          <a:prstGeom prst="rect">
            <a:avLst/>
          </a:prstGeom>
          <a:noFill/>
          <a:ln/>
        </p:spPr>
        <p:txBody>
          <a:bodyPr wrap="square" rtlCol="0" anchor="ctr"/>
          <a:lstStyle/>
          <a:p>
            <a:pPr indent="0" marL="0">
              <a:buNone/>
            </a:pPr>
            <a:r>
              <a:rPr lang="en-US" sz="1200" b="1" dirty="0">
                <a:solidFill>
                  <a:srgbClr val="1A7FA5"/>
                </a:solidFill>
                <a:latin typeface="Calibri" pitchFamily="34" charset="0"/>
                <a:ea typeface="Calibri" pitchFamily="34" charset="-122"/>
                <a:cs typeface="Calibri" pitchFamily="34" charset="-120"/>
              </a:rPr>
              <a:t>→  </a:t>
            </a:r>
            <a:pPr indent="0" marL="0">
              <a:buNone/>
            </a:pPr>
            <a:r>
              <a:rPr lang="en-US" sz="1200" dirty="0">
                <a:solidFill>
                  <a:srgbClr val="1A1A2E"/>
                </a:solidFill>
                <a:latin typeface="Calibri" pitchFamily="34" charset="0"/>
                <a:ea typeface="Calibri" pitchFamily="34" charset="-122"/>
                <a:cs typeface="Calibri" pitchFamily="34" charset="-120"/>
              </a:rPr>
              <a:t>ADF, KPSS: returns are stationary. Prices are I(1) — as expected.</a:t>
            </a:r>
            <a:endParaRPr lang="en-US" sz="1200" dirty="0"/>
          </a:p>
        </p:txBody>
      </p:sp>
      <p:sp>
        <p:nvSpPr>
          <p:cNvPr id="10" name="Text 8"/>
          <p:cNvSpPr/>
          <p:nvPr/>
        </p:nvSpPr>
        <p:spPr>
          <a:xfrm>
            <a:off x="594360" y="4069080"/>
            <a:ext cx="3749040" cy="502920"/>
          </a:xfrm>
          <a:prstGeom prst="rect">
            <a:avLst/>
          </a:prstGeom>
          <a:noFill/>
          <a:ln/>
        </p:spPr>
        <p:txBody>
          <a:bodyPr wrap="square" rtlCol="0" anchor="ctr"/>
          <a:lstStyle/>
          <a:p>
            <a:pPr indent="0" marL="0">
              <a:buNone/>
            </a:pPr>
            <a:r>
              <a:rPr lang="en-US" sz="1200" b="1" dirty="0">
                <a:solidFill>
                  <a:srgbClr val="1A7FA5"/>
                </a:solidFill>
                <a:latin typeface="Calibri" pitchFamily="34" charset="0"/>
                <a:ea typeface="Calibri" pitchFamily="34" charset="-122"/>
                <a:cs typeface="Calibri" pitchFamily="34" charset="-120"/>
              </a:rPr>
              <a:t>→  </a:t>
            </a:r>
            <a:pPr indent="0" marL="0">
              <a:buNone/>
            </a:pPr>
            <a:r>
              <a:rPr lang="en-US" sz="1200" dirty="0">
                <a:solidFill>
                  <a:srgbClr val="1A1A2E"/>
                </a:solidFill>
                <a:latin typeface="Calibri" pitchFamily="34" charset="0"/>
                <a:ea typeface="Calibri" pitchFamily="34" charset="-122"/>
                <a:cs typeface="Calibri" pitchFamily="34" charset="-120"/>
              </a:rPr>
              <a:t>Volume-return correlation: regime-dependent (analysed via rolling 63-day window).</a:t>
            </a:r>
            <a:endParaRPr lang="en-US" sz="1200" dirty="0"/>
          </a:p>
        </p:txBody>
      </p:sp>
      <p:sp>
        <p:nvSpPr>
          <p:cNvPr id="11" name="Shape 9"/>
          <p:cNvSpPr/>
          <p:nvPr/>
        </p:nvSpPr>
        <p:spPr>
          <a:xfrm>
            <a:off x="4846320" y="1234440"/>
            <a:ext cx="3886200" cy="1600200"/>
          </a:xfrm>
          <a:prstGeom prst="roundRect">
            <a:avLst>
              <a:gd name="adj" fmla="val 4571"/>
            </a:avLst>
          </a:prstGeom>
          <a:solidFill>
            <a:srgbClr val="1B2C5B"/>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029200" y="1371600"/>
            <a:ext cx="3520440" cy="822960"/>
          </a:xfrm>
          <a:prstGeom prst="rect">
            <a:avLst/>
          </a:prstGeom>
          <a:noFill/>
          <a:ln/>
        </p:spPr>
        <p:txBody>
          <a:bodyPr wrap="square" rtlCol="0" anchor="ctr"/>
          <a:lstStyle/>
          <a:p>
            <a:pPr algn="ctr" indent="0" marL="0">
              <a:buNone/>
            </a:pPr>
            <a:r>
              <a:rPr lang="en-US" sz="5600" b="1" dirty="0">
                <a:solidFill>
                  <a:srgbClr val="FFFFFF"/>
                </a:solidFill>
                <a:latin typeface="Cambria" pitchFamily="34" charset="0"/>
                <a:ea typeface="Cambria" pitchFamily="34" charset="-122"/>
                <a:cs typeface="Cambria" pitchFamily="34" charset="-120"/>
              </a:rPr>
              <a:t>+91%</a:t>
            </a:r>
            <a:endParaRPr lang="en-US" sz="5600" dirty="0"/>
          </a:p>
        </p:txBody>
      </p:sp>
      <p:sp>
        <p:nvSpPr>
          <p:cNvPr id="13" name="Text 11"/>
          <p:cNvSpPr/>
          <p:nvPr/>
        </p:nvSpPr>
        <p:spPr>
          <a:xfrm>
            <a:off x="5029200" y="2194560"/>
            <a:ext cx="3520440" cy="457200"/>
          </a:xfrm>
          <a:prstGeom prst="rect">
            <a:avLst/>
          </a:prstGeom>
          <a:noFill/>
          <a:ln/>
        </p:spPr>
        <p:txBody>
          <a:bodyPr wrap="square" rtlCol="0" anchor="ctr"/>
          <a:lstStyle/>
          <a:p>
            <a:pPr algn="ctr" indent="0" marL="0">
              <a:buNone/>
            </a:pPr>
            <a:r>
              <a:rPr lang="en-US" sz="1000" dirty="0">
                <a:solidFill>
                  <a:srgbClr val="CADCFC"/>
                </a:solidFill>
                <a:latin typeface="Calibri" pitchFamily="34" charset="0"/>
                <a:ea typeface="Calibri" pitchFamily="34" charset="-122"/>
                <a:cs typeface="Calibri" pitchFamily="34" charset="-120"/>
              </a:rPr>
              <a:t>Price Recovery: Oct 2024 → Jun 2026</a:t>
            </a:r>
            <a:endParaRPr lang="en-US" sz="1000" dirty="0"/>
          </a:p>
          <a:p>
            <a:pPr algn="ctr" indent="0" marL="0">
              <a:buNone/>
            </a:pPr>
            <a:r>
              <a:rPr lang="en-US" sz="1000" dirty="0">
                <a:solidFill>
                  <a:srgbClr val="CADCFC"/>
                </a:solidFill>
                <a:latin typeface="Calibri" pitchFamily="34" charset="0"/>
                <a:ea typeface="Calibri" pitchFamily="34" charset="-122"/>
                <a:cs typeface="Calibri" pitchFamily="34" charset="-120"/>
              </a:rPr>
              <a:t>KES 15 low → KES 28.75</a:t>
            </a:r>
            <a:endParaRPr lang="en-US" sz="1000" dirty="0"/>
          </a:p>
        </p:txBody>
      </p:sp>
      <p:sp>
        <p:nvSpPr>
          <p:cNvPr id="14" name="Shape 12"/>
          <p:cNvSpPr/>
          <p:nvPr/>
        </p:nvSpPr>
        <p:spPr>
          <a:xfrm>
            <a:off x="4846320" y="2971800"/>
            <a:ext cx="3886200" cy="1737360"/>
          </a:xfrm>
          <a:prstGeom prst="roundRect">
            <a:avLst>
              <a:gd name="adj" fmla="val 4211"/>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5" name="Text 13"/>
          <p:cNvSpPr/>
          <p:nvPr/>
        </p:nvSpPr>
        <p:spPr>
          <a:xfrm>
            <a:off x="5029200" y="3127248"/>
            <a:ext cx="3520440" cy="320040"/>
          </a:xfrm>
          <a:prstGeom prst="rect">
            <a:avLst/>
          </a:prstGeom>
          <a:noFill/>
          <a:ln/>
        </p:spPr>
        <p:txBody>
          <a:bodyPr wrap="square" rtlCol="0" anchor="ctr"/>
          <a:lstStyle/>
          <a:p>
            <a:pPr algn="ctr" indent="0" marL="0">
              <a:buNone/>
            </a:pPr>
            <a:r>
              <a:rPr lang="en-US" sz="1300" b="1" dirty="0">
                <a:solidFill>
                  <a:srgbClr val="1B2C5B"/>
                </a:solidFill>
                <a:latin typeface="Cambria" pitchFamily="34" charset="0"/>
                <a:ea typeface="Cambria" pitchFamily="34" charset="-122"/>
                <a:cs typeface="Cambria" pitchFamily="34" charset="-120"/>
              </a:rPr>
              <a:t>Volatility Clustering</a:t>
            </a:r>
            <a:endParaRPr lang="en-US" sz="1300" dirty="0"/>
          </a:p>
        </p:txBody>
      </p:sp>
      <p:sp>
        <p:nvSpPr>
          <p:cNvPr id="16" name="Text 14"/>
          <p:cNvSpPr/>
          <p:nvPr/>
        </p:nvSpPr>
        <p:spPr>
          <a:xfrm>
            <a:off x="5029200" y="3493008"/>
            <a:ext cx="3520440" cy="1097280"/>
          </a:xfrm>
          <a:prstGeom prst="rect">
            <a:avLst/>
          </a:prstGeom>
          <a:noFill/>
          <a:ln/>
        </p:spPr>
        <p:txBody>
          <a:bodyPr wrap="square" rtlCol="0" anchor="ctr"/>
          <a:lstStyle/>
          <a:p>
            <a:pPr algn="ctr" indent="0" marL="0">
              <a:buNone/>
            </a:pPr>
            <a:r>
              <a:rPr lang="en-US" sz="1100" dirty="0">
                <a:solidFill>
                  <a:srgbClr val="1A1A2E"/>
                </a:solidFill>
                <a:latin typeface="Calibri" pitchFamily="34" charset="0"/>
                <a:ea typeface="Calibri" pitchFamily="34" charset="-122"/>
                <a:cs typeface="Calibri" pitchFamily="34" charset="-120"/>
              </a:rPr>
              <a:t>SAFCOM exhibits classic ARCH effects: calm periods follow calm periods, volatile periods cluster together. This is the foundation for regime modelling.</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137160"/>
            <a:ext cx="2743200" cy="228600"/>
          </a:xfrm>
          <a:prstGeom prst="rect">
            <a:avLst/>
          </a:prstGeom>
          <a:noFill/>
          <a:ln/>
        </p:spPr>
        <p:txBody>
          <a:bodyPr wrap="square" rtlCol="0" anchor="ctr"/>
          <a:lstStyle/>
          <a:p>
            <a:pPr indent="0" marL="0">
              <a:buNone/>
            </a:pPr>
            <a:r>
              <a:rPr lang="en-US" sz="800" spc="200" kern="0" dirty="0">
                <a:solidFill>
                  <a:srgbClr val="1A7FA5"/>
                </a:solidFill>
                <a:latin typeface="Calibri" pitchFamily="34" charset="0"/>
                <a:ea typeface="Calibri" pitchFamily="34" charset="-122"/>
                <a:cs typeface="Calibri" pitchFamily="34" charset="-120"/>
              </a:rPr>
              <a:t>GARCH MODEL</a:t>
            </a:r>
            <a:endParaRPr lang="en-US" sz="800" dirty="0"/>
          </a:p>
        </p:txBody>
      </p:sp>
      <p:sp>
        <p:nvSpPr>
          <p:cNvPr id="3" name="Text 1"/>
          <p:cNvSpPr/>
          <p:nvPr/>
        </p:nvSpPr>
        <p:spPr>
          <a:xfrm>
            <a:off x="457200" y="411480"/>
            <a:ext cx="8229600" cy="685800"/>
          </a:xfrm>
          <a:prstGeom prst="rect">
            <a:avLst/>
          </a:prstGeom>
          <a:noFill/>
          <a:ln/>
        </p:spPr>
        <p:txBody>
          <a:bodyPr wrap="square" lIns="0" tIns="0" rIns="0" bIns="0" rtlCol="0" anchor="ctr"/>
          <a:lstStyle/>
          <a:p>
            <a:pPr algn="l" indent="0" marL="0">
              <a:buNone/>
            </a:pPr>
            <a:r>
              <a:rPr lang="en-US" sz="3400" b="1" dirty="0">
                <a:solidFill>
                  <a:srgbClr val="1B2C5B"/>
                </a:solidFill>
                <a:latin typeface="Cambria" pitchFamily="34" charset="0"/>
                <a:ea typeface="Cambria" pitchFamily="34" charset="-122"/>
                <a:cs typeface="Cambria" pitchFamily="34" charset="-120"/>
              </a:rPr>
              <a:t>GARCH(1,1): Volatility Has Memory</a:t>
            </a:r>
            <a:endParaRPr lang="en-US" sz="3400" dirty="0"/>
          </a:p>
        </p:txBody>
      </p:sp>
      <p:sp>
        <p:nvSpPr>
          <p:cNvPr id="4" name="Shape 2"/>
          <p:cNvSpPr/>
          <p:nvPr/>
        </p:nvSpPr>
        <p:spPr>
          <a:xfrm>
            <a:off x="365760" y="1234440"/>
            <a:ext cx="8412480" cy="640080"/>
          </a:xfrm>
          <a:prstGeom prst="roundRect">
            <a:avLst>
              <a:gd name="adj" fmla="val 11429"/>
            </a:avLst>
          </a:prstGeom>
          <a:solidFill>
            <a:srgbClr val="E8F4F8"/>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594360" y="1371600"/>
            <a:ext cx="7955280" cy="365760"/>
          </a:xfrm>
          <a:prstGeom prst="rect">
            <a:avLst/>
          </a:prstGeom>
          <a:noFill/>
          <a:ln/>
        </p:spPr>
        <p:txBody>
          <a:bodyPr wrap="square" rtlCol="0" anchor="ctr"/>
          <a:lstStyle/>
          <a:p>
            <a:pPr algn="ctr" indent="0" marL="0">
              <a:buNone/>
            </a:pPr>
            <a:r>
              <a:rPr lang="en-US" sz="1200" b="1" dirty="0">
                <a:solidFill>
                  <a:srgbClr val="1A7FA5"/>
                </a:solidFill>
                <a:latin typeface="Calibri" pitchFamily="34" charset="0"/>
                <a:ea typeface="Calibri" pitchFamily="34" charset="-122"/>
                <a:cs typeface="Calibri" pitchFamily="34" charset="-120"/>
              </a:rPr>
              <a:t>Model: GARCH(1,1) · Zero-Mean · Student-t Errors · N = 2,500 trading days · AIC = −13,996.8</a:t>
            </a:r>
            <a:endParaRPr lang="en-US" sz="1200" dirty="0"/>
          </a:p>
        </p:txBody>
      </p:sp>
      <p:sp>
        <p:nvSpPr>
          <p:cNvPr id="6" name="Shape 4"/>
          <p:cNvSpPr/>
          <p:nvPr/>
        </p:nvSpPr>
        <p:spPr>
          <a:xfrm>
            <a:off x="320040" y="2057400"/>
            <a:ext cx="1965960" cy="1920240"/>
          </a:xfrm>
          <a:prstGeom prst="roundRect">
            <a:avLst>
              <a:gd name="adj" fmla="val 3810"/>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411480" y="2176272"/>
            <a:ext cx="1783080" cy="320040"/>
          </a:xfrm>
          <a:prstGeom prst="rect">
            <a:avLst/>
          </a:prstGeom>
          <a:noFill/>
          <a:ln/>
        </p:spPr>
        <p:txBody>
          <a:bodyPr wrap="square" rtlCol="0" anchor="ctr"/>
          <a:lstStyle/>
          <a:p>
            <a:pPr algn="ctr" indent="0" marL="0">
              <a:buNone/>
            </a:pPr>
            <a:r>
              <a:rPr lang="en-US" sz="1100" dirty="0">
                <a:solidFill>
                  <a:srgbClr val="475569"/>
                </a:solidFill>
                <a:latin typeface="Calibri" pitchFamily="34" charset="0"/>
                <a:ea typeface="Calibri" pitchFamily="34" charset="-122"/>
                <a:cs typeface="Calibri" pitchFamily="34" charset="-120"/>
              </a:rPr>
              <a:t>ω (omega)</a:t>
            </a:r>
            <a:endParaRPr lang="en-US" sz="1100" dirty="0"/>
          </a:p>
        </p:txBody>
      </p:sp>
      <p:sp>
        <p:nvSpPr>
          <p:cNvPr id="8" name="Text 6"/>
          <p:cNvSpPr/>
          <p:nvPr/>
        </p:nvSpPr>
        <p:spPr>
          <a:xfrm>
            <a:off x="411480" y="2487168"/>
            <a:ext cx="1783080" cy="594360"/>
          </a:xfrm>
          <a:prstGeom prst="rect">
            <a:avLst/>
          </a:prstGeom>
          <a:noFill/>
          <a:ln/>
        </p:spPr>
        <p:txBody>
          <a:bodyPr wrap="square" rtlCol="0" anchor="ctr"/>
          <a:lstStyle/>
          <a:p>
            <a:pPr algn="ctr" indent="0" marL="0">
              <a:buNone/>
            </a:pPr>
            <a:r>
              <a:rPr lang="en-US" sz="2800" b="1" dirty="0">
                <a:solidFill>
                  <a:srgbClr val="1B2C5B"/>
                </a:solidFill>
                <a:latin typeface="Cambria" pitchFamily="34" charset="0"/>
                <a:ea typeface="Cambria" pitchFamily="34" charset="-122"/>
                <a:cs typeface="Cambria" pitchFamily="34" charset="-120"/>
              </a:rPr>
              <a:t>3.01×10⁻⁵</a:t>
            </a:r>
            <a:endParaRPr lang="en-US" sz="2800" dirty="0"/>
          </a:p>
        </p:txBody>
      </p:sp>
      <p:sp>
        <p:nvSpPr>
          <p:cNvPr id="9" name="Text 7"/>
          <p:cNvSpPr/>
          <p:nvPr/>
        </p:nvSpPr>
        <p:spPr>
          <a:xfrm>
            <a:off x="411480" y="3090672"/>
            <a:ext cx="1783080" cy="685800"/>
          </a:xfrm>
          <a:prstGeom prst="rect">
            <a:avLst/>
          </a:prstGeom>
          <a:noFill/>
          <a:ln/>
        </p:spPr>
        <p:txBody>
          <a:bodyPr wrap="square" rtlCol="0" anchor="ctr"/>
          <a:lstStyle/>
          <a:p>
            <a:pPr algn="ctr" indent="0" marL="0">
              <a:buNone/>
            </a:pPr>
            <a:r>
              <a:rPr lang="en-US" sz="1000" dirty="0">
                <a:solidFill>
                  <a:srgbClr val="475569"/>
                </a:solidFill>
                <a:latin typeface="Calibri" pitchFamily="34" charset="0"/>
                <a:ea typeface="Calibri" pitchFamily="34" charset="-122"/>
                <a:cs typeface="Calibri" pitchFamily="34" charset="-120"/>
              </a:rPr>
              <a:t>Long-run variance</a:t>
            </a:r>
            <a:endParaRPr lang="en-US" sz="1000" dirty="0"/>
          </a:p>
          <a:p>
            <a:pPr algn="ctr" indent="0" marL="0">
              <a:buNone/>
            </a:pPr>
            <a:r>
              <a:rPr lang="en-US" sz="1000" dirty="0">
                <a:solidFill>
                  <a:srgbClr val="475569"/>
                </a:solidFill>
                <a:latin typeface="Calibri" pitchFamily="34" charset="0"/>
                <a:ea typeface="Calibri" pitchFamily="34" charset="-122"/>
                <a:cs typeface="Calibri" pitchFamily="34" charset="-120"/>
              </a:rPr>
              <a:t>(baseline vol floor)</a:t>
            </a:r>
            <a:endParaRPr lang="en-US" sz="1000" dirty="0"/>
          </a:p>
        </p:txBody>
      </p:sp>
      <p:sp>
        <p:nvSpPr>
          <p:cNvPr id="10" name="Shape 8"/>
          <p:cNvSpPr/>
          <p:nvPr/>
        </p:nvSpPr>
        <p:spPr>
          <a:xfrm>
            <a:off x="2468880" y="2057400"/>
            <a:ext cx="1965960" cy="1920240"/>
          </a:xfrm>
          <a:prstGeom prst="roundRect">
            <a:avLst>
              <a:gd name="adj" fmla="val 3810"/>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1" name="Text 9"/>
          <p:cNvSpPr/>
          <p:nvPr/>
        </p:nvSpPr>
        <p:spPr>
          <a:xfrm>
            <a:off x="2560320" y="2176272"/>
            <a:ext cx="1783080" cy="320040"/>
          </a:xfrm>
          <a:prstGeom prst="rect">
            <a:avLst/>
          </a:prstGeom>
          <a:noFill/>
          <a:ln/>
        </p:spPr>
        <p:txBody>
          <a:bodyPr wrap="square" rtlCol="0" anchor="ctr"/>
          <a:lstStyle/>
          <a:p>
            <a:pPr algn="ctr" indent="0" marL="0">
              <a:buNone/>
            </a:pPr>
            <a:r>
              <a:rPr lang="en-US" sz="1100" dirty="0">
                <a:solidFill>
                  <a:srgbClr val="475569"/>
                </a:solidFill>
                <a:latin typeface="Calibri" pitchFamily="34" charset="0"/>
                <a:ea typeface="Calibri" pitchFamily="34" charset="-122"/>
                <a:cs typeface="Calibri" pitchFamily="34" charset="-120"/>
              </a:rPr>
              <a:t>α (alpha)</a:t>
            </a:r>
            <a:endParaRPr lang="en-US" sz="1100" dirty="0"/>
          </a:p>
        </p:txBody>
      </p:sp>
      <p:sp>
        <p:nvSpPr>
          <p:cNvPr id="12" name="Text 10"/>
          <p:cNvSpPr/>
          <p:nvPr/>
        </p:nvSpPr>
        <p:spPr>
          <a:xfrm>
            <a:off x="2560320" y="2487168"/>
            <a:ext cx="1783080" cy="594360"/>
          </a:xfrm>
          <a:prstGeom prst="rect">
            <a:avLst/>
          </a:prstGeom>
          <a:noFill/>
          <a:ln/>
        </p:spPr>
        <p:txBody>
          <a:bodyPr wrap="square" rtlCol="0" anchor="ctr"/>
          <a:lstStyle/>
          <a:p>
            <a:pPr algn="ctr" indent="0" marL="0">
              <a:buNone/>
            </a:pPr>
            <a:r>
              <a:rPr lang="en-US" sz="2800" b="1" dirty="0">
                <a:solidFill>
                  <a:srgbClr val="1A7FA5"/>
                </a:solidFill>
                <a:latin typeface="Cambria" pitchFamily="34" charset="0"/>
                <a:ea typeface="Cambria" pitchFamily="34" charset="-122"/>
                <a:cs typeface="Cambria" pitchFamily="34" charset="-120"/>
              </a:rPr>
              <a:t>0.10</a:t>
            </a:r>
            <a:endParaRPr lang="en-US" sz="2800" dirty="0"/>
          </a:p>
        </p:txBody>
      </p:sp>
      <p:sp>
        <p:nvSpPr>
          <p:cNvPr id="13" name="Text 11"/>
          <p:cNvSpPr/>
          <p:nvPr/>
        </p:nvSpPr>
        <p:spPr>
          <a:xfrm>
            <a:off x="2560320" y="3090672"/>
            <a:ext cx="1783080" cy="685800"/>
          </a:xfrm>
          <a:prstGeom prst="rect">
            <a:avLst/>
          </a:prstGeom>
          <a:noFill/>
          <a:ln/>
        </p:spPr>
        <p:txBody>
          <a:bodyPr wrap="square" rtlCol="0" anchor="ctr"/>
          <a:lstStyle/>
          <a:p>
            <a:pPr algn="ctr" indent="0" marL="0">
              <a:buNone/>
            </a:pPr>
            <a:r>
              <a:rPr lang="en-US" sz="1000" dirty="0">
                <a:solidFill>
                  <a:srgbClr val="475569"/>
                </a:solidFill>
                <a:latin typeface="Calibri" pitchFamily="34" charset="0"/>
                <a:ea typeface="Calibri" pitchFamily="34" charset="-122"/>
                <a:cs typeface="Calibri" pitchFamily="34" charset="-120"/>
              </a:rPr>
              <a:t>ARCH term: sensitivity</a:t>
            </a:r>
            <a:endParaRPr lang="en-US" sz="1000" dirty="0"/>
          </a:p>
          <a:p>
            <a:pPr algn="ctr" indent="0" marL="0">
              <a:buNone/>
            </a:pPr>
            <a:r>
              <a:rPr lang="en-US" sz="1000" dirty="0">
                <a:solidFill>
                  <a:srgbClr val="475569"/>
                </a:solidFill>
                <a:latin typeface="Calibri" pitchFamily="34" charset="0"/>
                <a:ea typeface="Calibri" pitchFamily="34" charset="-122"/>
                <a:cs typeface="Calibri" pitchFamily="34" charset="-120"/>
              </a:rPr>
              <a:t>to recent shocks</a:t>
            </a:r>
            <a:endParaRPr lang="en-US" sz="1000" dirty="0"/>
          </a:p>
        </p:txBody>
      </p:sp>
      <p:sp>
        <p:nvSpPr>
          <p:cNvPr id="14" name="Shape 12"/>
          <p:cNvSpPr/>
          <p:nvPr/>
        </p:nvSpPr>
        <p:spPr>
          <a:xfrm>
            <a:off x="4617720" y="2057400"/>
            <a:ext cx="1965960" cy="1920240"/>
          </a:xfrm>
          <a:prstGeom prst="roundRect">
            <a:avLst>
              <a:gd name="adj" fmla="val 3810"/>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5" name="Text 13"/>
          <p:cNvSpPr/>
          <p:nvPr/>
        </p:nvSpPr>
        <p:spPr>
          <a:xfrm>
            <a:off x="4709160" y="2176272"/>
            <a:ext cx="1783080" cy="320040"/>
          </a:xfrm>
          <a:prstGeom prst="rect">
            <a:avLst/>
          </a:prstGeom>
          <a:noFill/>
          <a:ln/>
        </p:spPr>
        <p:txBody>
          <a:bodyPr wrap="square" rtlCol="0" anchor="ctr"/>
          <a:lstStyle/>
          <a:p>
            <a:pPr algn="ctr" indent="0" marL="0">
              <a:buNone/>
            </a:pPr>
            <a:r>
              <a:rPr lang="en-US" sz="1100" dirty="0">
                <a:solidFill>
                  <a:srgbClr val="475569"/>
                </a:solidFill>
                <a:latin typeface="Calibri" pitchFamily="34" charset="0"/>
                <a:ea typeface="Calibri" pitchFamily="34" charset="-122"/>
                <a:cs typeface="Calibri" pitchFamily="34" charset="-120"/>
              </a:rPr>
              <a:t>β (beta)</a:t>
            </a:r>
            <a:endParaRPr lang="en-US" sz="1100" dirty="0"/>
          </a:p>
        </p:txBody>
      </p:sp>
      <p:sp>
        <p:nvSpPr>
          <p:cNvPr id="16" name="Text 14"/>
          <p:cNvSpPr/>
          <p:nvPr/>
        </p:nvSpPr>
        <p:spPr>
          <a:xfrm>
            <a:off x="4709160" y="2487168"/>
            <a:ext cx="1783080" cy="594360"/>
          </a:xfrm>
          <a:prstGeom prst="rect">
            <a:avLst/>
          </a:prstGeom>
          <a:noFill/>
          <a:ln/>
        </p:spPr>
        <p:txBody>
          <a:bodyPr wrap="square" rtlCol="0" anchor="ctr"/>
          <a:lstStyle/>
          <a:p>
            <a:pPr algn="ctr" indent="0" marL="0">
              <a:buNone/>
            </a:pPr>
            <a:r>
              <a:rPr lang="en-US" sz="2800" b="1" dirty="0">
                <a:solidFill>
                  <a:srgbClr val="2980B9"/>
                </a:solidFill>
                <a:latin typeface="Cambria" pitchFamily="34" charset="0"/>
                <a:ea typeface="Cambria" pitchFamily="34" charset="-122"/>
                <a:cs typeface="Cambria" pitchFamily="34" charset="-120"/>
              </a:rPr>
              <a:t>0.80</a:t>
            </a:r>
            <a:endParaRPr lang="en-US" sz="2800" dirty="0"/>
          </a:p>
        </p:txBody>
      </p:sp>
      <p:sp>
        <p:nvSpPr>
          <p:cNvPr id="17" name="Text 15"/>
          <p:cNvSpPr/>
          <p:nvPr/>
        </p:nvSpPr>
        <p:spPr>
          <a:xfrm>
            <a:off x="4709160" y="3090672"/>
            <a:ext cx="1783080" cy="685800"/>
          </a:xfrm>
          <a:prstGeom prst="rect">
            <a:avLst/>
          </a:prstGeom>
          <a:noFill/>
          <a:ln/>
        </p:spPr>
        <p:txBody>
          <a:bodyPr wrap="square" rtlCol="0" anchor="ctr"/>
          <a:lstStyle/>
          <a:p>
            <a:pPr algn="ctr" indent="0" marL="0">
              <a:buNone/>
            </a:pPr>
            <a:r>
              <a:rPr lang="en-US" sz="1000" dirty="0">
                <a:solidFill>
                  <a:srgbClr val="475569"/>
                </a:solidFill>
                <a:latin typeface="Calibri" pitchFamily="34" charset="0"/>
                <a:ea typeface="Calibri" pitchFamily="34" charset="-122"/>
                <a:cs typeface="Calibri" pitchFamily="34" charset="-120"/>
              </a:rPr>
              <a:t>GARCH term: volatility</a:t>
            </a:r>
            <a:endParaRPr lang="en-US" sz="1000" dirty="0"/>
          </a:p>
          <a:p>
            <a:pPr algn="ctr" indent="0" marL="0">
              <a:buNone/>
            </a:pPr>
            <a:r>
              <a:rPr lang="en-US" sz="1000" dirty="0">
                <a:solidFill>
                  <a:srgbClr val="475569"/>
                </a:solidFill>
                <a:latin typeface="Calibri" pitchFamily="34" charset="0"/>
                <a:ea typeface="Calibri" pitchFamily="34" charset="-122"/>
                <a:cs typeface="Calibri" pitchFamily="34" charset="-120"/>
              </a:rPr>
              <a:t>persistence</a:t>
            </a:r>
            <a:endParaRPr lang="en-US" sz="1000" dirty="0"/>
          </a:p>
        </p:txBody>
      </p:sp>
      <p:sp>
        <p:nvSpPr>
          <p:cNvPr id="18" name="Shape 16"/>
          <p:cNvSpPr/>
          <p:nvPr/>
        </p:nvSpPr>
        <p:spPr>
          <a:xfrm>
            <a:off x="6766560" y="2057400"/>
            <a:ext cx="1965960" cy="1920240"/>
          </a:xfrm>
          <a:prstGeom prst="roundRect">
            <a:avLst>
              <a:gd name="adj" fmla="val 3810"/>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9" name="Text 17"/>
          <p:cNvSpPr/>
          <p:nvPr/>
        </p:nvSpPr>
        <p:spPr>
          <a:xfrm>
            <a:off x="6858000" y="2176272"/>
            <a:ext cx="1783080" cy="320040"/>
          </a:xfrm>
          <a:prstGeom prst="rect">
            <a:avLst/>
          </a:prstGeom>
          <a:noFill/>
          <a:ln/>
        </p:spPr>
        <p:txBody>
          <a:bodyPr wrap="square" rtlCol="0" anchor="ctr"/>
          <a:lstStyle/>
          <a:p>
            <a:pPr algn="ctr" indent="0" marL="0">
              <a:buNone/>
            </a:pPr>
            <a:r>
              <a:rPr lang="en-US" sz="1100" dirty="0">
                <a:solidFill>
                  <a:srgbClr val="475569"/>
                </a:solidFill>
                <a:latin typeface="Calibri" pitchFamily="34" charset="0"/>
                <a:ea typeface="Calibri" pitchFamily="34" charset="-122"/>
                <a:cs typeface="Calibri" pitchFamily="34" charset="-120"/>
              </a:rPr>
              <a:t>ν (nu)</a:t>
            </a:r>
            <a:endParaRPr lang="en-US" sz="1100" dirty="0"/>
          </a:p>
        </p:txBody>
      </p:sp>
      <p:sp>
        <p:nvSpPr>
          <p:cNvPr id="20" name="Text 18"/>
          <p:cNvSpPr/>
          <p:nvPr/>
        </p:nvSpPr>
        <p:spPr>
          <a:xfrm>
            <a:off x="6858000" y="2487168"/>
            <a:ext cx="1783080" cy="594360"/>
          </a:xfrm>
          <a:prstGeom prst="rect">
            <a:avLst/>
          </a:prstGeom>
          <a:noFill/>
          <a:ln/>
        </p:spPr>
        <p:txBody>
          <a:bodyPr wrap="square" rtlCol="0" anchor="ctr"/>
          <a:lstStyle/>
          <a:p>
            <a:pPr algn="ctr" indent="0" marL="0">
              <a:buNone/>
            </a:pPr>
            <a:r>
              <a:rPr lang="en-US" sz="2800" b="1" dirty="0">
                <a:solidFill>
                  <a:srgbClr val="E67E22"/>
                </a:solidFill>
                <a:latin typeface="Cambria" pitchFamily="34" charset="0"/>
                <a:ea typeface="Cambria" pitchFamily="34" charset="-122"/>
                <a:cs typeface="Cambria" pitchFamily="34" charset="-120"/>
              </a:rPr>
              <a:t>4.99</a:t>
            </a:r>
            <a:endParaRPr lang="en-US" sz="2800" dirty="0"/>
          </a:p>
        </p:txBody>
      </p:sp>
      <p:sp>
        <p:nvSpPr>
          <p:cNvPr id="21" name="Text 19"/>
          <p:cNvSpPr/>
          <p:nvPr/>
        </p:nvSpPr>
        <p:spPr>
          <a:xfrm>
            <a:off x="6858000" y="3090672"/>
            <a:ext cx="1783080" cy="685800"/>
          </a:xfrm>
          <a:prstGeom prst="rect">
            <a:avLst/>
          </a:prstGeom>
          <a:noFill/>
          <a:ln/>
        </p:spPr>
        <p:txBody>
          <a:bodyPr wrap="square" rtlCol="0" anchor="ctr"/>
          <a:lstStyle/>
          <a:p>
            <a:pPr algn="ctr" indent="0" marL="0">
              <a:buNone/>
            </a:pPr>
            <a:r>
              <a:rPr lang="en-US" sz="1000" dirty="0">
                <a:solidFill>
                  <a:srgbClr val="475569"/>
                </a:solidFill>
                <a:latin typeface="Calibri" pitchFamily="34" charset="0"/>
                <a:ea typeface="Calibri" pitchFamily="34" charset="-122"/>
                <a:cs typeface="Calibri" pitchFamily="34" charset="-120"/>
              </a:rPr>
              <a:t>Student-t dof:</a:t>
            </a:r>
            <a:endParaRPr lang="en-US" sz="1000" dirty="0"/>
          </a:p>
          <a:p>
            <a:pPr algn="ctr" indent="0" marL="0">
              <a:buNone/>
            </a:pPr>
            <a:r>
              <a:rPr lang="en-US" sz="1000" dirty="0">
                <a:solidFill>
                  <a:srgbClr val="475569"/>
                </a:solidFill>
                <a:latin typeface="Calibri" pitchFamily="34" charset="0"/>
                <a:ea typeface="Calibri" pitchFamily="34" charset="-122"/>
                <a:cs typeface="Calibri" pitchFamily="34" charset="-120"/>
              </a:rPr>
              <a:t>heavy tails confirmed</a:t>
            </a:r>
            <a:endParaRPr lang="en-US" sz="1000" dirty="0"/>
          </a:p>
        </p:txBody>
      </p:sp>
      <p:sp>
        <p:nvSpPr>
          <p:cNvPr id="22" name="Shape 20"/>
          <p:cNvSpPr/>
          <p:nvPr/>
        </p:nvSpPr>
        <p:spPr>
          <a:xfrm>
            <a:off x="365760" y="4114800"/>
            <a:ext cx="8412480" cy="777240"/>
          </a:xfrm>
          <a:prstGeom prst="roundRect">
            <a:avLst>
              <a:gd name="adj" fmla="val 9412"/>
            </a:avLst>
          </a:prstGeom>
          <a:solidFill>
            <a:srgbClr val="1B2C5B"/>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23" name="Text 21"/>
          <p:cNvSpPr/>
          <p:nvPr/>
        </p:nvSpPr>
        <p:spPr>
          <a:xfrm>
            <a:off x="594360" y="4224528"/>
            <a:ext cx="7955280" cy="548640"/>
          </a:xfrm>
          <a:prstGeom prst="rect">
            <a:avLst/>
          </a:prstGeom>
          <a:noFill/>
          <a:ln/>
        </p:spPr>
        <p:txBody>
          <a:bodyPr wrap="square"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Persistence: α + β = 0.90  →  </a:t>
            </a:r>
            <a:pPr indent="0" marL="0">
              <a:buNone/>
            </a:pPr>
            <a:r>
              <a:rPr lang="en-US" sz="1300" dirty="0">
                <a:solidFill>
                  <a:srgbClr val="FFFFFF"/>
                </a:solidFill>
                <a:latin typeface="Calibri" pitchFamily="34" charset="0"/>
                <a:ea typeface="Calibri" pitchFamily="34" charset="-122"/>
                <a:cs typeface="Calibri" pitchFamily="34" charset="-120"/>
              </a:rPr>
              <a:t>A volatility shock today still influences the market 10+ days later. This is what makes timing risk manageable — vol doesn't vanish overnight.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137160"/>
            <a:ext cx="2743200" cy="228600"/>
          </a:xfrm>
          <a:prstGeom prst="rect">
            <a:avLst/>
          </a:prstGeom>
          <a:noFill/>
          <a:ln/>
        </p:spPr>
        <p:txBody>
          <a:bodyPr wrap="square" rtlCol="0" anchor="ctr"/>
          <a:lstStyle/>
          <a:p>
            <a:pPr indent="0" marL="0">
              <a:buNone/>
            </a:pPr>
            <a:r>
              <a:rPr lang="en-US" sz="800" spc="200" kern="0" dirty="0">
                <a:solidFill>
                  <a:srgbClr val="1A7FA5"/>
                </a:solidFill>
                <a:latin typeface="Calibri" pitchFamily="34" charset="0"/>
                <a:ea typeface="Calibri" pitchFamily="34" charset="-122"/>
                <a:cs typeface="Calibri" pitchFamily="34" charset="-120"/>
              </a:rPr>
              <a:t>REGIME DETECTION</a:t>
            </a:r>
            <a:endParaRPr lang="en-US" sz="800" dirty="0"/>
          </a:p>
        </p:txBody>
      </p:sp>
      <p:sp>
        <p:nvSpPr>
          <p:cNvPr id="3" name="Text 1"/>
          <p:cNvSpPr/>
          <p:nvPr/>
        </p:nvSpPr>
        <p:spPr>
          <a:xfrm>
            <a:off x="457200" y="411480"/>
            <a:ext cx="8229600" cy="685800"/>
          </a:xfrm>
          <a:prstGeom prst="rect">
            <a:avLst/>
          </a:prstGeom>
          <a:noFill/>
          <a:ln/>
        </p:spPr>
        <p:txBody>
          <a:bodyPr wrap="square" lIns="0" tIns="0" rIns="0" bIns="0" rtlCol="0" anchor="ctr"/>
          <a:lstStyle/>
          <a:p>
            <a:pPr algn="l" indent="0" marL="0">
              <a:buNone/>
            </a:pPr>
            <a:r>
              <a:rPr lang="en-US" sz="3400" b="1" dirty="0">
                <a:solidFill>
                  <a:srgbClr val="1B2C5B"/>
                </a:solidFill>
                <a:latin typeface="Cambria" pitchFamily="34" charset="0"/>
                <a:ea typeface="Cambria" pitchFamily="34" charset="-122"/>
                <a:cs typeface="Cambria" pitchFamily="34" charset="-120"/>
              </a:rPr>
              <a:t>4 Distinct Market Regimes (GMM, k=4)</a:t>
            </a:r>
            <a:endParaRPr lang="en-US" sz="3400" dirty="0"/>
          </a:p>
        </p:txBody>
      </p:sp>
      <p:sp>
        <p:nvSpPr>
          <p:cNvPr id="4" name="Text 2"/>
          <p:cNvSpPr/>
          <p:nvPr/>
        </p:nvSpPr>
        <p:spPr>
          <a:xfrm>
            <a:off x="457200" y="1005840"/>
            <a:ext cx="8229600" cy="274320"/>
          </a:xfrm>
          <a:prstGeom prst="rect">
            <a:avLst/>
          </a:prstGeom>
          <a:noFill/>
          <a:ln/>
        </p:spPr>
        <p:txBody>
          <a:bodyPr wrap="square" rtlCol="0" anchor="ctr"/>
          <a:lstStyle/>
          <a:p>
            <a:pPr indent="0" marL="0">
              <a:buNone/>
            </a:pPr>
            <a:r>
              <a:rPr lang="en-US" sz="1100" i="1" dirty="0">
                <a:solidFill>
                  <a:srgbClr val="475569"/>
                </a:solidFill>
                <a:latin typeface="Calibri" pitchFamily="34" charset="0"/>
                <a:ea typeface="Calibri" pitchFamily="34" charset="-122"/>
                <a:cs typeface="Calibri" pitchFamily="34" charset="-120"/>
              </a:rPr>
              <a:t>BIC-optimal 4-component Gaussian Mixture Model on [log_return, |log_return|]</a:t>
            </a:r>
            <a:endParaRPr lang="en-US" sz="1100" dirty="0"/>
          </a:p>
        </p:txBody>
      </p:sp>
      <p:sp>
        <p:nvSpPr>
          <p:cNvPr id="5" name="Shape 3"/>
          <p:cNvSpPr/>
          <p:nvPr/>
        </p:nvSpPr>
        <p:spPr>
          <a:xfrm>
            <a:off x="365760" y="1371600"/>
            <a:ext cx="4069080" cy="1691640"/>
          </a:xfrm>
          <a:prstGeom prst="roundRect">
            <a:avLst>
              <a:gd name="adj" fmla="val 4324"/>
            </a:avLst>
          </a:prstGeom>
          <a:solidFill>
            <a:srgbClr val="E9F7E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6" name="Shape 4"/>
          <p:cNvSpPr/>
          <p:nvPr/>
        </p:nvSpPr>
        <p:spPr>
          <a:xfrm>
            <a:off x="566928" y="1572768"/>
            <a:ext cx="347472" cy="347472"/>
          </a:xfrm>
          <a:prstGeom prst="ellipse">
            <a:avLst/>
          </a:prstGeom>
          <a:solidFill>
            <a:srgbClr val="27AE60"/>
          </a:solidFill>
          <a:ln w="12700">
            <a:solidFill>
              <a:srgbClr val="27AE60"/>
            </a:solidFill>
            <a:prstDash val="solid"/>
          </a:ln>
        </p:spPr>
      </p:sp>
      <p:sp>
        <p:nvSpPr>
          <p:cNvPr id="7" name="Text 5"/>
          <p:cNvSpPr/>
          <p:nvPr/>
        </p:nvSpPr>
        <p:spPr>
          <a:xfrm>
            <a:off x="1024128" y="1536192"/>
            <a:ext cx="2468880" cy="320040"/>
          </a:xfrm>
          <a:prstGeom prst="rect">
            <a:avLst/>
          </a:prstGeom>
          <a:noFill/>
          <a:ln/>
        </p:spPr>
        <p:txBody>
          <a:bodyPr wrap="square" rtlCol="0" anchor="ctr"/>
          <a:lstStyle/>
          <a:p>
            <a:pPr indent="0" marL="0">
              <a:buNone/>
            </a:pPr>
            <a:r>
              <a:rPr lang="en-US" sz="1400" b="1" dirty="0">
                <a:solidFill>
                  <a:srgbClr val="27AE60"/>
                </a:solidFill>
                <a:latin typeface="Cambria" pitchFamily="34" charset="0"/>
                <a:ea typeface="Cambria" pitchFamily="34" charset="-122"/>
                <a:cs typeface="Cambria" pitchFamily="34" charset="-120"/>
              </a:rPr>
              <a:t>Low Volatility</a:t>
            </a:r>
            <a:endParaRPr lang="en-US" sz="1400" dirty="0"/>
          </a:p>
        </p:txBody>
      </p:sp>
      <p:sp>
        <p:nvSpPr>
          <p:cNvPr id="8" name="Text 6"/>
          <p:cNvSpPr/>
          <p:nvPr/>
        </p:nvSpPr>
        <p:spPr>
          <a:xfrm>
            <a:off x="1024128" y="1828800"/>
            <a:ext cx="3200400" cy="246888"/>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~40%  |  Accumulation / Drift</a:t>
            </a:r>
            <a:endParaRPr lang="en-US" sz="1000" dirty="0"/>
          </a:p>
        </p:txBody>
      </p:sp>
      <p:sp>
        <p:nvSpPr>
          <p:cNvPr id="9" name="Text 7"/>
          <p:cNvSpPr/>
          <p:nvPr/>
        </p:nvSpPr>
        <p:spPr>
          <a:xfrm>
            <a:off x="566928" y="2176272"/>
            <a:ext cx="3703320" cy="73152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Calm market. Low absolute returns. Accumulation or slow drift. Optimal for building positions.</a:t>
            </a:r>
            <a:endParaRPr lang="en-US" sz="1100" dirty="0"/>
          </a:p>
        </p:txBody>
      </p:sp>
      <p:sp>
        <p:nvSpPr>
          <p:cNvPr id="10" name="Shape 8"/>
          <p:cNvSpPr/>
          <p:nvPr/>
        </p:nvSpPr>
        <p:spPr>
          <a:xfrm>
            <a:off x="365760" y="3246120"/>
            <a:ext cx="4069080" cy="1691640"/>
          </a:xfrm>
          <a:prstGeom prst="roundRect">
            <a:avLst>
              <a:gd name="adj" fmla="val 4324"/>
            </a:avLst>
          </a:prstGeom>
          <a:solidFill>
            <a:srgbClr val="EBF5FB"/>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1" name="Shape 9"/>
          <p:cNvSpPr/>
          <p:nvPr/>
        </p:nvSpPr>
        <p:spPr>
          <a:xfrm>
            <a:off x="566928" y="3447288"/>
            <a:ext cx="347472" cy="347472"/>
          </a:xfrm>
          <a:prstGeom prst="ellipse">
            <a:avLst/>
          </a:prstGeom>
          <a:solidFill>
            <a:srgbClr val="2980B9"/>
          </a:solidFill>
          <a:ln w="12700">
            <a:solidFill>
              <a:srgbClr val="2980B9"/>
            </a:solidFill>
            <a:prstDash val="solid"/>
          </a:ln>
        </p:spPr>
      </p:sp>
      <p:sp>
        <p:nvSpPr>
          <p:cNvPr id="12" name="Text 10"/>
          <p:cNvSpPr/>
          <p:nvPr/>
        </p:nvSpPr>
        <p:spPr>
          <a:xfrm>
            <a:off x="1024128" y="3410712"/>
            <a:ext cx="2468880" cy="320040"/>
          </a:xfrm>
          <a:prstGeom prst="rect">
            <a:avLst/>
          </a:prstGeom>
          <a:noFill/>
          <a:ln/>
        </p:spPr>
        <p:txBody>
          <a:bodyPr wrap="square" rtlCol="0" anchor="ctr"/>
          <a:lstStyle/>
          <a:p>
            <a:pPr indent="0" marL="0">
              <a:buNone/>
            </a:pPr>
            <a:r>
              <a:rPr lang="en-US" sz="1400" b="1" dirty="0">
                <a:solidFill>
                  <a:srgbClr val="2980B9"/>
                </a:solidFill>
                <a:latin typeface="Cambria" pitchFamily="34" charset="0"/>
                <a:ea typeface="Cambria" pitchFamily="34" charset="-122"/>
                <a:cs typeface="Cambria" pitchFamily="34" charset="-120"/>
              </a:rPr>
              <a:t>Moderate Volatility</a:t>
            </a:r>
            <a:endParaRPr lang="en-US" sz="1400" dirty="0"/>
          </a:p>
        </p:txBody>
      </p:sp>
      <p:sp>
        <p:nvSpPr>
          <p:cNvPr id="13" name="Text 11"/>
          <p:cNvSpPr/>
          <p:nvPr/>
        </p:nvSpPr>
        <p:spPr>
          <a:xfrm>
            <a:off x="1024128" y="3703320"/>
            <a:ext cx="3200400" cy="246888"/>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~28%  |  Trending / Active</a:t>
            </a:r>
            <a:endParaRPr lang="en-US" sz="1000" dirty="0"/>
          </a:p>
        </p:txBody>
      </p:sp>
      <p:sp>
        <p:nvSpPr>
          <p:cNvPr id="14" name="Text 12"/>
          <p:cNvSpPr/>
          <p:nvPr/>
        </p:nvSpPr>
        <p:spPr>
          <a:xfrm>
            <a:off x="566928" y="4050792"/>
            <a:ext cx="3703320" cy="73152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Directional momentum. Returns are larger but not extreme. Trends are sustainable.</a:t>
            </a:r>
            <a:endParaRPr lang="en-US" sz="1100" dirty="0"/>
          </a:p>
        </p:txBody>
      </p:sp>
      <p:sp>
        <p:nvSpPr>
          <p:cNvPr id="15" name="Shape 13"/>
          <p:cNvSpPr/>
          <p:nvPr/>
        </p:nvSpPr>
        <p:spPr>
          <a:xfrm>
            <a:off x="4709160" y="1371600"/>
            <a:ext cx="4069080" cy="1691640"/>
          </a:xfrm>
          <a:prstGeom prst="roundRect">
            <a:avLst>
              <a:gd name="adj" fmla="val 4324"/>
            </a:avLst>
          </a:prstGeom>
          <a:solidFill>
            <a:srgbClr val="FEF9E7"/>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6" name="Shape 14"/>
          <p:cNvSpPr/>
          <p:nvPr/>
        </p:nvSpPr>
        <p:spPr>
          <a:xfrm>
            <a:off x="4910328" y="1572768"/>
            <a:ext cx="347472" cy="347472"/>
          </a:xfrm>
          <a:prstGeom prst="ellipse">
            <a:avLst/>
          </a:prstGeom>
          <a:solidFill>
            <a:srgbClr val="E67E22"/>
          </a:solidFill>
          <a:ln w="12700">
            <a:solidFill>
              <a:srgbClr val="E67E22"/>
            </a:solidFill>
            <a:prstDash val="solid"/>
          </a:ln>
        </p:spPr>
      </p:sp>
      <p:sp>
        <p:nvSpPr>
          <p:cNvPr id="17" name="Text 15"/>
          <p:cNvSpPr/>
          <p:nvPr/>
        </p:nvSpPr>
        <p:spPr>
          <a:xfrm>
            <a:off x="5367528" y="1536192"/>
            <a:ext cx="2468880" cy="320040"/>
          </a:xfrm>
          <a:prstGeom prst="rect">
            <a:avLst/>
          </a:prstGeom>
          <a:noFill/>
          <a:ln/>
        </p:spPr>
        <p:txBody>
          <a:bodyPr wrap="square" rtlCol="0" anchor="ctr"/>
          <a:lstStyle/>
          <a:p>
            <a:pPr indent="0" marL="0">
              <a:buNone/>
            </a:pPr>
            <a:r>
              <a:rPr lang="en-US" sz="1400" b="1" dirty="0">
                <a:solidFill>
                  <a:srgbClr val="E67E22"/>
                </a:solidFill>
                <a:latin typeface="Cambria" pitchFamily="34" charset="0"/>
                <a:ea typeface="Cambria" pitchFamily="34" charset="-122"/>
                <a:cs typeface="Cambria" pitchFamily="34" charset="-120"/>
              </a:rPr>
              <a:t>High Volatility</a:t>
            </a:r>
            <a:endParaRPr lang="en-US" sz="1400" dirty="0"/>
          </a:p>
        </p:txBody>
      </p:sp>
      <p:sp>
        <p:nvSpPr>
          <p:cNvPr id="18" name="Text 16"/>
          <p:cNvSpPr/>
          <p:nvPr/>
        </p:nvSpPr>
        <p:spPr>
          <a:xfrm>
            <a:off x="5367528" y="1828800"/>
            <a:ext cx="3200400" cy="246888"/>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~22%  |  Stress / Uncertainty</a:t>
            </a:r>
            <a:endParaRPr lang="en-US" sz="1000" dirty="0"/>
          </a:p>
        </p:txBody>
      </p:sp>
      <p:sp>
        <p:nvSpPr>
          <p:cNvPr id="19" name="Text 17"/>
          <p:cNvSpPr/>
          <p:nvPr/>
        </p:nvSpPr>
        <p:spPr>
          <a:xfrm>
            <a:off x="4910328" y="2176272"/>
            <a:ext cx="3703320" cy="73152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Elevated uncertainty. Whipsaw price action. Reduce exposure or hedge positions.</a:t>
            </a:r>
            <a:endParaRPr lang="en-US" sz="1100" dirty="0"/>
          </a:p>
        </p:txBody>
      </p:sp>
      <p:sp>
        <p:nvSpPr>
          <p:cNvPr id="20" name="Shape 18"/>
          <p:cNvSpPr/>
          <p:nvPr/>
        </p:nvSpPr>
        <p:spPr>
          <a:xfrm>
            <a:off x="4709160" y="3246120"/>
            <a:ext cx="4069080" cy="1691640"/>
          </a:xfrm>
          <a:prstGeom prst="roundRect">
            <a:avLst>
              <a:gd name="adj" fmla="val 4324"/>
            </a:avLst>
          </a:prstGeom>
          <a:solidFill>
            <a:srgbClr val="FDEDEC"/>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21" name="Shape 19"/>
          <p:cNvSpPr/>
          <p:nvPr/>
        </p:nvSpPr>
        <p:spPr>
          <a:xfrm>
            <a:off x="4910328" y="3447288"/>
            <a:ext cx="347472" cy="347472"/>
          </a:xfrm>
          <a:prstGeom prst="ellipse">
            <a:avLst/>
          </a:prstGeom>
          <a:solidFill>
            <a:srgbClr val="E74C3C"/>
          </a:solidFill>
          <a:ln w="12700">
            <a:solidFill>
              <a:srgbClr val="E74C3C"/>
            </a:solidFill>
            <a:prstDash val="solid"/>
          </a:ln>
        </p:spPr>
      </p:sp>
      <p:sp>
        <p:nvSpPr>
          <p:cNvPr id="22" name="Text 20"/>
          <p:cNvSpPr/>
          <p:nvPr/>
        </p:nvSpPr>
        <p:spPr>
          <a:xfrm>
            <a:off x="5367528" y="3410712"/>
            <a:ext cx="2468880" cy="320040"/>
          </a:xfrm>
          <a:prstGeom prst="rect">
            <a:avLst/>
          </a:prstGeom>
          <a:noFill/>
          <a:ln/>
        </p:spPr>
        <p:txBody>
          <a:bodyPr wrap="square" rtlCol="0" anchor="ctr"/>
          <a:lstStyle/>
          <a:p>
            <a:pPr indent="0" marL="0">
              <a:buNone/>
            </a:pPr>
            <a:r>
              <a:rPr lang="en-US" sz="1400" b="1" dirty="0">
                <a:solidFill>
                  <a:srgbClr val="E74C3C"/>
                </a:solidFill>
                <a:latin typeface="Cambria" pitchFamily="34" charset="0"/>
                <a:ea typeface="Cambria" pitchFamily="34" charset="-122"/>
                <a:cs typeface="Cambria" pitchFamily="34" charset="-120"/>
              </a:rPr>
              <a:t>Extreme Volatility</a:t>
            </a:r>
            <a:endParaRPr lang="en-US" sz="1400" dirty="0"/>
          </a:p>
        </p:txBody>
      </p:sp>
      <p:sp>
        <p:nvSpPr>
          <p:cNvPr id="23" name="Text 21"/>
          <p:cNvSpPr/>
          <p:nvPr/>
        </p:nvSpPr>
        <p:spPr>
          <a:xfrm>
            <a:off x="5367528" y="3703320"/>
            <a:ext cx="3200400" cy="246888"/>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~10%  |  Crisis / Panic</a:t>
            </a:r>
            <a:endParaRPr lang="en-US" sz="1000" dirty="0"/>
          </a:p>
        </p:txBody>
      </p:sp>
      <p:sp>
        <p:nvSpPr>
          <p:cNvPr id="24" name="Text 22"/>
          <p:cNvSpPr/>
          <p:nvPr/>
        </p:nvSpPr>
        <p:spPr>
          <a:xfrm>
            <a:off x="4910328" y="4050792"/>
            <a:ext cx="3703320" cy="73152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Market in crisis. Large absolute moves. Historical: COVID sell-off, governance events.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137160"/>
            <a:ext cx="2743200" cy="228600"/>
          </a:xfrm>
          <a:prstGeom prst="rect">
            <a:avLst/>
          </a:prstGeom>
          <a:noFill/>
          <a:ln/>
        </p:spPr>
        <p:txBody>
          <a:bodyPr wrap="square" rtlCol="0" anchor="ctr"/>
          <a:lstStyle/>
          <a:p>
            <a:pPr indent="0" marL="0">
              <a:buNone/>
            </a:pPr>
            <a:r>
              <a:rPr lang="en-US" sz="800" spc="200" kern="0" dirty="0">
                <a:solidFill>
                  <a:srgbClr val="1A7FA5"/>
                </a:solidFill>
                <a:latin typeface="Calibri" pitchFamily="34" charset="0"/>
                <a:ea typeface="Calibri" pitchFamily="34" charset="-122"/>
                <a:cs typeface="Calibri" pitchFamily="34" charset="-120"/>
              </a:rPr>
              <a:t>RISK SIGNALS</a:t>
            </a:r>
            <a:endParaRPr lang="en-US" sz="800" dirty="0"/>
          </a:p>
        </p:txBody>
      </p:sp>
      <p:sp>
        <p:nvSpPr>
          <p:cNvPr id="3" name="Text 1"/>
          <p:cNvSpPr/>
          <p:nvPr/>
        </p:nvSpPr>
        <p:spPr>
          <a:xfrm>
            <a:off x="457200" y="411480"/>
            <a:ext cx="8229600" cy="685800"/>
          </a:xfrm>
          <a:prstGeom prst="rect">
            <a:avLst/>
          </a:prstGeom>
          <a:noFill/>
          <a:ln/>
        </p:spPr>
        <p:txBody>
          <a:bodyPr wrap="square" lIns="0" tIns="0" rIns="0" bIns="0" rtlCol="0" anchor="ctr"/>
          <a:lstStyle/>
          <a:p>
            <a:pPr algn="l" indent="0" marL="0">
              <a:buNone/>
            </a:pPr>
            <a:r>
              <a:rPr lang="en-US" sz="3400" b="1" dirty="0">
                <a:solidFill>
                  <a:srgbClr val="1B2C5B"/>
                </a:solidFill>
                <a:latin typeface="Cambria" pitchFamily="34" charset="0"/>
                <a:ea typeface="Cambria" pitchFamily="34" charset="-122"/>
                <a:cs typeface="Cambria" pitchFamily="34" charset="-120"/>
              </a:rPr>
              <a:t>Regimes as Early Warning Signals</a:t>
            </a:r>
            <a:endParaRPr lang="en-US" sz="3400" dirty="0"/>
          </a:p>
        </p:txBody>
      </p:sp>
      <p:graphicFrame>
        <p:nvGraphicFramePr>
          <p:cNvPr id="4" name="Chart 0" descr=""/>
          <p:cNvGraphicFramePr/>
          <p:nvPr/>
        </p:nvGraphicFramePr>
        <p:xfrm>
          <a:off x="365760" y="1234440"/>
          <a:ext cx="466344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257800" y="1234440"/>
            <a:ext cx="3520440" cy="1078992"/>
          </a:xfrm>
          <a:prstGeom prst="roundRect">
            <a:avLst>
              <a:gd name="adj" fmla="val 6780"/>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6" name="Text 3"/>
          <p:cNvSpPr/>
          <p:nvPr/>
        </p:nvSpPr>
        <p:spPr>
          <a:xfrm>
            <a:off x="5486400" y="1389888"/>
            <a:ext cx="3063240" cy="320040"/>
          </a:xfrm>
          <a:prstGeom prst="rect">
            <a:avLst/>
          </a:prstGeom>
          <a:noFill/>
          <a:ln/>
        </p:spPr>
        <p:txBody>
          <a:bodyPr wrap="square" rtlCol="0" anchor="ctr"/>
          <a:lstStyle/>
          <a:p>
            <a:pPr indent="0" marL="0">
              <a:buNone/>
            </a:pPr>
            <a:r>
              <a:rPr lang="en-US" sz="1300" b="1" dirty="0">
                <a:solidFill>
                  <a:srgbClr val="1B2C5B"/>
                </a:solidFill>
                <a:latin typeface="Cambria" pitchFamily="34" charset="0"/>
                <a:ea typeface="Cambria" pitchFamily="34" charset="-122"/>
                <a:cs typeface="Cambria" pitchFamily="34" charset="-120"/>
              </a:rPr>
              <a:t>Timing, Not Prediction</a:t>
            </a:r>
            <a:endParaRPr lang="en-US" sz="1300" dirty="0"/>
          </a:p>
        </p:txBody>
      </p:sp>
      <p:sp>
        <p:nvSpPr>
          <p:cNvPr id="7" name="Text 4"/>
          <p:cNvSpPr/>
          <p:nvPr/>
        </p:nvSpPr>
        <p:spPr>
          <a:xfrm>
            <a:off x="5486400" y="1737360"/>
            <a:ext cx="3063240" cy="45720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Regime assignment today predicts the distribution of tomorrow's vol — not direction, but RISK.</a:t>
            </a:r>
            <a:endParaRPr lang="en-US" sz="1100" dirty="0"/>
          </a:p>
        </p:txBody>
      </p:sp>
      <p:sp>
        <p:nvSpPr>
          <p:cNvPr id="8" name="Shape 5"/>
          <p:cNvSpPr/>
          <p:nvPr/>
        </p:nvSpPr>
        <p:spPr>
          <a:xfrm>
            <a:off x="5257800" y="2468880"/>
            <a:ext cx="3520440" cy="1078992"/>
          </a:xfrm>
          <a:prstGeom prst="roundRect">
            <a:avLst>
              <a:gd name="adj" fmla="val 6780"/>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9" name="Text 6"/>
          <p:cNvSpPr/>
          <p:nvPr/>
        </p:nvSpPr>
        <p:spPr>
          <a:xfrm>
            <a:off x="5486400" y="2624328"/>
            <a:ext cx="3063240" cy="320040"/>
          </a:xfrm>
          <a:prstGeom prst="rect">
            <a:avLst/>
          </a:prstGeom>
          <a:noFill/>
          <a:ln/>
        </p:spPr>
        <p:txBody>
          <a:bodyPr wrap="square" rtlCol="0" anchor="ctr"/>
          <a:lstStyle/>
          <a:p>
            <a:pPr indent="0" marL="0">
              <a:buNone/>
            </a:pPr>
            <a:r>
              <a:rPr lang="en-US" sz="1300" b="1" dirty="0">
                <a:solidFill>
                  <a:srgbClr val="1A7FA5"/>
                </a:solidFill>
                <a:latin typeface="Cambria" pitchFamily="34" charset="0"/>
                <a:ea typeface="Cambria" pitchFamily="34" charset="-122"/>
                <a:cs typeface="Cambria" pitchFamily="34" charset="-120"/>
              </a:rPr>
              <a:t>Regime Persistence</a:t>
            </a:r>
            <a:endParaRPr lang="en-US" sz="1300" dirty="0"/>
          </a:p>
        </p:txBody>
      </p:sp>
      <p:sp>
        <p:nvSpPr>
          <p:cNvPr id="10" name="Text 7"/>
          <p:cNvSpPr/>
          <p:nvPr/>
        </p:nvSpPr>
        <p:spPr>
          <a:xfrm>
            <a:off x="5486400" y="2971800"/>
            <a:ext cx="3063240" cy="45720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With α+β=0.90, regimes are sticky. Entering Regime 3 means elevated risk for days or weeks — not hours.</a:t>
            </a:r>
            <a:endParaRPr lang="en-US" sz="1100" dirty="0"/>
          </a:p>
        </p:txBody>
      </p:sp>
      <p:sp>
        <p:nvSpPr>
          <p:cNvPr id="11" name="Shape 8"/>
          <p:cNvSpPr/>
          <p:nvPr/>
        </p:nvSpPr>
        <p:spPr>
          <a:xfrm>
            <a:off x="5257800" y="3703320"/>
            <a:ext cx="3520440" cy="1078992"/>
          </a:xfrm>
          <a:prstGeom prst="roundRect">
            <a:avLst>
              <a:gd name="adj" fmla="val 6780"/>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2" name="Text 9"/>
          <p:cNvSpPr/>
          <p:nvPr/>
        </p:nvSpPr>
        <p:spPr>
          <a:xfrm>
            <a:off x="5486400" y="3858768"/>
            <a:ext cx="3063240" cy="320040"/>
          </a:xfrm>
          <a:prstGeom prst="rect">
            <a:avLst/>
          </a:prstGeom>
          <a:noFill/>
          <a:ln/>
        </p:spPr>
        <p:txBody>
          <a:bodyPr wrap="square" rtlCol="0" anchor="ctr"/>
          <a:lstStyle/>
          <a:p>
            <a:pPr indent="0" marL="0">
              <a:buNone/>
            </a:pPr>
            <a:r>
              <a:rPr lang="en-US" sz="1300" b="1" dirty="0">
                <a:solidFill>
                  <a:srgbClr val="E67E22"/>
                </a:solidFill>
                <a:latin typeface="Cambria" pitchFamily="34" charset="0"/>
                <a:ea typeface="Cambria" pitchFamily="34" charset="-122"/>
                <a:cs typeface="Cambria" pitchFamily="34" charset="-120"/>
              </a:rPr>
              <a:t>Position Sizing Rule</a:t>
            </a:r>
            <a:endParaRPr lang="en-US" sz="1300" dirty="0"/>
          </a:p>
        </p:txBody>
      </p:sp>
      <p:sp>
        <p:nvSpPr>
          <p:cNvPr id="13" name="Text 10"/>
          <p:cNvSpPr/>
          <p:nvPr/>
        </p:nvSpPr>
        <p:spPr>
          <a:xfrm>
            <a:off x="5486400" y="4206240"/>
            <a:ext cx="3063240" cy="45720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Risk-budget usage: Regime 0 → full exposure · Regime 1 → 75% · Regime 2 → 50% · Regime 3 → 25%</a:t>
            </a:r>
            <a:endParaRPr lang="en-US" sz="1100" dirty="0"/>
          </a:p>
        </p:txBody>
      </p:sp>
      <p:sp>
        <p:nvSpPr>
          <p:cNvPr id="14" name="Text 11"/>
          <p:cNvSpPr/>
          <p:nvPr/>
        </p:nvSpPr>
        <p:spPr>
          <a:xfrm>
            <a:off x="457200" y="4754880"/>
            <a:ext cx="8229600" cy="274320"/>
          </a:xfrm>
          <a:prstGeom prst="rect">
            <a:avLst/>
          </a:prstGeom>
          <a:noFill/>
          <a:ln/>
        </p:spPr>
        <p:txBody>
          <a:bodyPr wrap="square" rtlCol="0" anchor="ctr"/>
          <a:lstStyle/>
          <a:p>
            <a:pPr algn="ctr" indent="0" marL="0">
              <a:buNone/>
            </a:pPr>
            <a:r>
              <a:rPr lang="en-US" sz="800" i="1" dirty="0">
                <a:solidFill>
                  <a:srgbClr val="475569"/>
                </a:solidFill>
                <a:latin typeface="Calibri" pitchFamily="34" charset="0"/>
                <a:ea typeface="Calibri" pitchFamily="34" charset="-122"/>
                <a:cs typeface="Calibri" pitchFamily="34" charset="-120"/>
              </a:rPr>
              <a:t>Volatility levels are indicative from GMM-fitted model on SAFCOM data</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137160"/>
            <a:ext cx="2743200" cy="228600"/>
          </a:xfrm>
          <a:prstGeom prst="rect">
            <a:avLst/>
          </a:prstGeom>
          <a:noFill/>
          <a:ln/>
        </p:spPr>
        <p:txBody>
          <a:bodyPr wrap="square" rtlCol="0" anchor="ctr"/>
          <a:lstStyle/>
          <a:p>
            <a:pPr indent="0" marL="0">
              <a:buNone/>
            </a:pPr>
            <a:r>
              <a:rPr lang="en-US" sz="800" spc="200" kern="0" dirty="0">
                <a:solidFill>
                  <a:srgbClr val="1A7FA5"/>
                </a:solidFill>
                <a:latin typeface="Calibri" pitchFamily="34" charset="0"/>
                <a:ea typeface="Calibri" pitchFamily="34" charset="-122"/>
                <a:cs typeface="Calibri" pitchFamily="34" charset="-120"/>
              </a:rPr>
              <a:t>RISK MANAGEMENT · HONEST DISCLOSURE</a:t>
            </a:r>
            <a:endParaRPr lang="en-US" sz="800" dirty="0"/>
          </a:p>
        </p:txBody>
      </p:sp>
      <p:sp>
        <p:nvSpPr>
          <p:cNvPr id="3" name="Text 1"/>
          <p:cNvSpPr/>
          <p:nvPr/>
        </p:nvSpPr>
        <p:spPr>
          <a:xfrm>
            <a:off x="457200" y="411480"/>
            <a:ext cx="8229600" cy="685800"/>
          </a:xfrm>
          <a:prstGeom prst="rect">
            <a:avLst/>
          </a:prstGeom>
          <a:noFill/>
          <a:ln/>
        </p:spPr>
        <p:txBody>
          <a:bodyPr wrap="square" lIns="0" tIns="0" rIns="0" bIns="0" rtlCol="0" anchor="ctr"/>
          <a:lstStyle/>
          <a:p>
            <a:pPr algn="l" indent="0" marL="0">
              <a:buNone/>
            </a:pPr>
            <a:r>
              <a:rPr lang="en-US" sz="3400" b="1" dirty="0">
                <a:solidFill>
                  <a:srgbClr val="1B2C5B"/>
                </a:solidFill>
                <a:latin typeface="Cambria" pitchFamily="34" charset="0"/>
                <a:ea typeface="Cambria" pitchFamily="34" charset="-122"/>
                <a:cs typeface="Cambria" pitchFamily="34" charset="-120"/>
              </a:rPr>
              <a:t>VaR Backtest: Validated on Two Tests</a:t>
            </a:r>
            <a:endParaRPr lang="en-US" sz="3400" dirty="0"/>
          </a:p>
        </p:txBody>
      </p:sp>
      <p:sp>
        <p:nvSpPr>
          <p:cNvPr id="4" name="Shape 2"/>
          <p:cNvSpPr/>
          <p:nvPr/>
        </p:nvSpPr>
        <p:spPr>
          <a:xfrm>
            <a:off x="365760" y="1143000"/>
            <a:ext cx="8412480" cy="777240"/>
          </a:xfrm>
          <a:prstGeom prst="roundRect">
            <a:avLst>
              <a:gd name="adj" fmla="val 9412"/>
            </a:avLst>
          </a:prstGeom>
          <a:solidFill>
            <a:srgbClr val="27AE60"/>
          </a:solidFill>
          <a:ln w="12700">
            <a:solidFill>
              <a:srgbClr val="27AE60"/>
            </a:solidFill>
            <a:prstDash val="solid"/>
          </a:ln>
        </p:spPr>
      </p:sp>
      <p:sp>
        <p:nvSpPr>
          <p:cNvPr id="5" name="Text 3"/>
          <p:cNvSpPr/>
          <p:nvPr/>
        </p:nvSpPr>
        <p:spPr>
          <a:xfrm>
            <a:off x="594360" y="1335024"/>
            <a:ext cx="795528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  Two-Test Backtest at 95% Confidence:  </a:t>
            </a:r>
            <a:pPr indent="0" marL="0">
              <a:buNone/>
            </a:pPr>
            <a:r>
              <a:rPr lang="en-US" sz="1400" dirty="0">
                <a:solidFill>
                  <a:srgbClr val="FFFFFF"/>
                </a:solidFill>
                <a:latin typeface="Calibri" pitchFamily="34" charset="0"/>
                <a:ea typeface="Calibri" pitchFamily="34" charset="-122"/>
                <a:cs typeface="Calibri" pitchFamily="34" charset="-120"/>
              </a:rPr>
              <a:t>GARCH-t VaR passes Kupiec (5.9%, p=0.16) and Christoffersen independence (p=0.86)</a:t>
            </a:r>
            <a:endParaRPr lang="en-US" sz="1400" dirty="0"/>
          </a:p>
        </p:txBody>
      </p:sp>
      <p:sp>
        <p:nvSpPr>
          <p:cNvPr id="6" name="Shape 4"/>
          <p:cNvSpPr/>
          <p:nvPr/>
        </p:nvSpPr>
        <p:spPr>
          <a:xfrm>
            <a:off x="365760" y="2103120"/>
            <a:ext cx="2743200" cy="2240280"/>
          </a:xfrm>
          <a:prstGeom prst="roundRect">
            <a:avLst>
              <a:gd name="adj" fmla="val 3265"/>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48640" y="2249424"/>
            <a:ext cx="2377440" cy="347472"/>
          </a:xfrm>
          <a:prstGeom prst="rect">
            <a:avLst/>
          </a:prstGeom>
          <a:noFill/>
          <a:ln/>
        </p:spPr>
        <p:txBody>
          <a:bodyPr wrap="square" rtlCol="0" anchor="ctr"/>
          <a:lstStyle/>
          <a:p>
            <a:pPr indent="0" marL="0">
              <a:buNone/>
            </a:pPr>
            <a:r>
              <a:rPr lang="en-US" sz="1300" b="1" dirty="0">
                <a:solidFill>
                  <a:srgbClr val="27AE60"/>
                </a:solidFill>
                <a:latin typeface="Cambria" pitchFamily="34" charset="0"/>
                <a:ea typeface="Cambria" pitchFamily="34" charset="-122"/>
                <a:cs typeface="Cambria" pitchFamily="34" charset="-120"/>
              </a:rPr>
              <a:t>What the Tests Show</a:t>
            </a:r>
            <a:endParaRPr lang="en-US" sz="1300" dirty="0"/>
          </a:p>
        </p:txBody>
      </p:sp>
      <p:sp>
        <p:nvSpPr>
          <p:cNvPr id="8" name="Text 6"/>
          <p:cNvSpPr/>
          <p:nvPr/>
        </p:nvSpPr>
        <p:spPr>
          <a:xfrm>
            <a:off x="548640" y="2670048"/>
            <a:ext cx="2377440" cy="502920"/>
          </a:xfrm>
          <a:prstGeom prst="rect">
            <a:avLst/>
          </a:prstGeom>
          <a:noFill/>
          <a:ln/>
        </p:spPr>
        <p:txBody>
          <a:bodyPr wrap="square" rtlCol="0" anchor="ctr"/>
          <a:lstStyle/>
          <a:p>
            <a:pPr indent="0" marL="0">
              <a:buNone/>
            </a:pPr>
            <a:r>
              <a:rPr lang="en-US" sz="1100" b="1" dirty="0">
                <a:solidFill>
                  <a:srgbClr val="27AE60"/>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Passes Kupiec: 5.9% violation rate ≈ 5% target (p = 0.16)</a:t>
            </a:r>
            <a:endParaRPr lang="en-US" sz="1100" dirty="0"/>
          </a:p>
        </p:txBody>
      </p:sp>
      <p:sp>
        <p:nvSpPr>
          <p:cNvPr id="9" name="Text 7"/>
          <p:cNvSpPr/>
          <p:nvPr/>
        </p:nvSpPr>
        <p:spPr>
          <a:xfrm>
            <a:off x="548640" y="3218688"/>
            <a:ext cx="2377440" cy="502920"/>
          </a:xfrm>
          <a:prstGeom prst="rect">
            <a:avLst/>
          </a:prstGeom>
          <a:noFill/>
          <a:ln/>
        </p:spPr>
        <p:txBody>
          <a:bodyPr wrap="square" rtlCol="0" anchor="ctr"/>
          <a:lstStyle/>
          <a:p>
            <a:pPr indent="0" marL="0">
              <a:buNone/>
            </a:pPr>
            <a:r>
              <a:rPr lang="en-US" sz="1100" b="1" dirty="0">
                <a:solidFill>
                  <a:srgbClr val="27AE60"/>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Passes Christoffersen: violations independent, not clustered</a:t>
            </a:r>
            <a:endParaRPr lang="en-US" sz="1100" dirty="0"/>
          </a:p>
        </p:txBody>
      </p:sp>
      <p:sp>
        <p:nvSpPr>
          <p:cNvPr id="10" name="Text 8"/>
          <p:cNvSpPr/>
          <p:nvPr/>
        </p:nvSpPr>
        <p:spPr>
          <a:xfrm>
            <a:off x="548640" y="3767328"/>
            <a:ext cx="2377440" cy="502920"/>
          </a:xfrm>
          <a:prstGeom prst="rect">
            <a:avLst/>
          </a:prstGeom>
          <a:noFill/>
          <a:ln/>
        </p:spPr>
        <p:txBody>
          <a:bodyPr wrap="square" rtlCol="0" anchor="ctr"/>
          <a:lstStyle/>
          <a:p>
            <a:pPr indent="0" marL="0">
              <a:buNone/>
            </a:pPr>
            <a:r>
              <a:rPr lang="en-US" sz="1100" b="1" dirty="0">
                <a:solidFill>
                  <a:srgbClr val="27AE60"/>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Validated for analysis on two independent tests</a:t>
            </a:r>
            <a:endParaRPr lang="en-US" sz="1100" dirty="0"/>
          </a:p>
        </p:txBody>
      </p:sp>
      <p:sp>
        <p:nvSpPr>
          <p:cNvPr id="11" name="Shape 9"/>
          <p:cNvSpPr/>
          <p:nvPr/>
        </p:nvSpPr>
        <p:spPr>
          <a:xfrm>
            <a:off x="3291840" y="2103120"/>
            <a:ext cx="2743200" cy="2240280"/>
          </a:xfrm>
          <a:prstGeom prst="roundRect">
            <a:avLst>
              <a:gd name="adj" fmla="val 3265"/>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3474720" y="2249424"/>
            <a:ext cx="2377440" cy="347472"/>
          </a:xfrm>
          <a:prstGeom prst="rect">
            <a:avLst/>
          </a:prstGeom>
          <a:noFill/>
          <a:ln/>
        </p:spPr>
        <p:txBody>
          <a:bodyPr wrap="square" rtlCol="0" anchor="ctr"/>
          <a:lstStyle/>
          <a:p>
            <a:pPr indent="0" marL="0">
              <a:buNone/>
            </a:pPr>
            <a:r>
              <a:rPr lang="en-US" sz="1300" b="1" dirty="0">
                <a:solidFill>
                  <a:srgbClr val="E67E22"/>
                </a:solidFill>
                <a:latin typeface="Cambria" pitchFamily="34" charset="0"/>
                <a:ea typeface="Cambria" pitchFamily="34" charset="-122"/>
                <a:cs typeface="Cambria" pitchFamily="34" charset="-120"/>
              </a:rPr>
              <a:t>The Real Caveat</a:t>
            </a:r>
            <a:endParaRPr lang="en-US" sz="1300" dirty="0"/>
          </a:p>
        </p:txBody>
      </p:sp>
      <p:sp>
        <p:nvSpPr>
          <p:cNvPr id="13" name="Text 11"/>
          <p:cNvSpPr/>
          <p:nvPr/>
        </p:nvSpPr>
        <p:spPr>
          <a:xfrm>
            <a:off x="3474720" y="2670048"/>
            <a:ext cx="2377440" cy="502920"/>
          </a:xfrm>
          <a:prstGeom prst="rect">
            <a:avLst/>
          </a:prstGeom>
          <a:noFill/>
          <a:ln/>
        </p:spPr>
        <p:txBody>
          <a:bodyPr wrap="square" rtlCol="0" anchor="ctr"/>
          <a:lstStyle/>
          <a:p>
            <a:pPr indent="0" marL="0">
              <a:buNone/>
            </a:pPr>
            <a:r>
              <a:rPr lang="en-US" sz="1100" b="1" dirty="0">
                <a:solidFill>
                  <a:srgbClr val="E67E22"/>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Kupiec tests violation COUNT only — not whether they cluster</a:t>
            </a:r>
            <a:endParaRPr lang="en-US" sz="1100" dirty="0"/>
          </a:p>
        </p:txBody>
      </p:sp>
      <p:sp>
        <p:nvSpPr>
          <p:cNvPr id="14" name="Text 12"/>
          <p:cNvSpPr/>
          <p:nvPr/>
        </p:nvSpPr>
        <p:spPr>
          <a:xfrm>
            <a:off x="3474720" y="3218688"/>
            <a:ext cx="2377440" cy="502920"/>
          </a:xfrm>
          <a:prstGeom prst="rect">
            <a:avLst/>
          </a:prstGeom>
          <a:noFill/>
          <a:ln/>
        </p:spPr>
        <p:txBody>
          <a:bodyPr wrap="square" rtlCol="0" anchor="ctr"/>
          <a:lstStyle/>
          <a:p>
            <a:pPr indent="0" marL="0">
              <a:buNone/>
            </a:pPr>
            <a:r>
              <a:rPr lang="en-US" sz="1100" b="1" dirty="0">
                <a:solidFill>
                  <a:srgbClr val="E67E22"/>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Student-t with ν≈5 helps but EVT fits the extreme tail better</a:t>
            </a:r>
            <a:endParaRPr lang="en-US" sz="1100" dirty="0"/>
          </a:p>
        </p:txBody>
      </p:sp>
      <p:sp>
        <p:nvSpPr>
          <p:cNvPr id="15" name="Text 13"/>
          <p:cNvSpPr/>
          <p:nvPr/>
        </p:nvSpPr>
        <p:spPr>
          <a:xfrm>
            <a:off x="3474720" y="3767328"/>
            <a:ext cx="2377440" cy="502920"/>
          </a:xfrm>
          <a:prstGeom prst="rect">
            <a:avLst/>
          </a:prstGeom>
          <a:noFill/>
          <a:ln/>
        </p:spPr>
        <p:txBody>
          <a:bodyPr wrap="square" rtlCol="0" anchor="ctr"/>
          <a:lstStyle/>
          <a:p>
            <a:pPr indent="0" marL="0">
              <a:buNone/>
            </a:pPr>
            <a:r>
              <a:rPr lang="en-US" sz="1100" b="1" dirty="0">
                <a:solidFill>
                  <a:srgbClr val="E67E22"/>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Regime-specific tail behaviour needs regime-conditional modelling</a:t>
            </a:r>
            <a:endParaRPr lang="en-US" sz="1100" dirty="0"/>
          </a:p>
        </p:txBody>
      </p:sp>
      <p:sp>
        <p:nvSpPr>
          <p:cNvPr id="16" name="Shape 14"/>
          <p:cNvSpPr/>
          <p:nvPr/>
        </p:nvSpPr>
        <p:spPr>
          <a:xfrm>
            <a:off x="6217920" y="2103120"/>
            <a:ext cx="2743200" cy="2240280"/>
          </a:xfrm>
          <a:prstGeom prst="roundRect">
            <a:avLst>
              <a:gd name="adj" fmla="val 3265"/>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7" name="Text 15"/>
          <p:cNvSpPr/>
          <p:nvPr/>
        </p:nvSpPr>
        <p:spPr>
          <a:xfrm>
            <a:off x="6400800" y="2249424"/>
            <a:ext cx="2377440" cy="347472"/>
          </a:xfrm>
          <a:prstGeom prst="rect">
            <a:avLst/>
          </a:prstGeom>
          <a:noFill/>
          <a:ln/>
        </p:spPr>
        <p:txBody>
          <a:bodyPr wrap="square" rtlCol="0" anchor="ctr"/>
          <a:lstStyle/>
          <a:p>
            <a:pPr indent="0" marL="0">
              <a:buNone/>
            </a:pPr>
            <a:r>
              <a:rPr lang="en-US" sz="1300" b="1" dirty="0">
                <a:solidFill>
                  <a:srgbClr val="27AE60"/>
                </a:solidFill>
                <a:latin typeface="Cambria" pitchFamily="34" charset="0"/>
                <a:ea typeface="Cambria" pitchFamily="34" charset="-122"/>
                <a:cs typeface="Cambria" pitchFamily="34" charset="-120"/>
              </a:rPr>
              <a:t>Hardening (Phase 2)</a:t>
            </a:r>
            <a:endParaRPr lang="en-US" sz="1300" dirty="0"/>
          </a:p>
        </p:txBody>
      </p:sp>
      <p:sp>
        <p:nvSpPr>
          <p:cNvPr id="18" name="Text 16"/>
          <p:cNvSpPr/>
          <p:nvPr/>
        </p:nvSpPr>
        <p:spPr>
          <a:xfrm>
            <a:off x="6400800" y="2670048"/>
            <a:ext cx="2377440" cy="502920"/>
          </a:xfrm>
          <a:prstGeom prst="rect">
            <a:avLst/>
          </a:prstGeom>
          <a:noFill/>
          <a:ln/>
        </p:spPr>
        <p:txBody>
          <a:bodyPr wrap="square" rtlCol="0" anchor="ctr"/>
          <a:lstStyle/>
          <a:p>
            <a:pPr indent="0" marL="0">
              <a:buNone/>
            </a:pPr>
            <a:r>
              <a:rPr lang="en-US" sz="1100" b="1" dirty="0">
                <a:solidFill>
                  <a:srgbClr val="27AE60"/>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GJR-GARCH: captures asymmetric vol (leverage effect)</a:t>
            </a:r>
            <a:endParaRPr lang="en-US" sz="1100" dirty="0"/>
          </a:p>
        </p:txBody>
      </p:sp>
      <p:sp>
        <p:nvSpPr>
          <p:cNvPr id="19" name="Text 17"/>
          <p:cNvSpPr/>
          <p:nvPr/>
        </p:nvSpPr>
        <p:spPr>
          <a:xfrm>
            <a:off x="6400800" y="3218688"/>
            <a:ext cx="2377440" cy="502920"/>
          </a:xfrm>
          <a:prstGeom prst="rect">
            <a:avLst/>
          </a:prstGeom>
          <a:noFill/>
          <a:ln/>
        </p:spPr>
        <p:txBody>
          <a:bodyPr wrap="square" rtlCol="0" anchor="ctr"/>
          <a:lstStyle/>
          <a:p>
            <a:pPr indent="0" marL="0">
              <a:buNone/>
            </a:pPr>
            <a:r>
              <a:rPr lang="en-US" sz="1100" b="1" dirty="0">
                <a:solidFill>
                  <a:srgbClr val="27AE60"/>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EVT tail correction: Generalized Pareto on worst 5% of losses</a:t>
            </a:r>
            <a:endParaRPr lang="en-US" sz="1100" dirty="0"/>
          </a:p>
        </p:txBody>
      </p:sp>
      <p:sp>
        <p:nvSpPr>
          <p:cNvPr id="20" name="Text 18"/>
          <p:cNvSpPr/>
          <p:nvPr/>
        </p:nvSpPr>
        <p:spPr>
          <a:xfrm>
            <a:off x="6400800" y="3767328"/>
            <a:ext cx="2377440" cy="502920"/>
          </a:xfrm>
          <a:prstGeom prst="rect">
            <a:avLst/>
          </a:prstGeom>
          <a:noFill/>
          <a:ln/>
        </p:spPr>
        <p:txBody>
          <a:bodyPr wrap="square" rtlCol="0" anchor="ctr"/>
          <a:lstStyle/>
          <a:p>
            <a:pPr indent="0" marL="0">
              <a:buNone/>
            </a:pPr>
            <a:r>
              <a:rPr lang="en-US" sz="1100" b="1" dirty="0">
                <a:solidFill>
                  <a:srgbClr val="27AE60"/>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Regime-conditional VaR per each GMM regime</a:t>
            </a:r>
            <a:endParaRPr lang="en-US" sz="1100" dirty="0"/>
          </a:p>
        </p:txBody>
      </p:sp>
      <p:sp>
        <p:nvSpPr>
          <p:cNvPr id="21" name="Shape 19"/>
          <p:cNvSpPr/>
          <p:nvPr/>
        </p:nvSpPr>
        <p:spPr>
          <a:xfrm>
            <a:off x="365760" y="4480560"/>
            <a:ext cx="8412480" cy="457200"/>
          </a:xfrm>
          <a:prstGeom prst="roundRect">
            <a:avLst>
              <a:gd name="adj" fmla="val 16000"/>
            </a:avLst>
          </a:prstGeom>
          <a:solidFill>
            <a:srgbClr val="E8F4F8"/>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22" name="Text 20"/>
          <p:cNvSpPr/>
          <p:nvPr/>
        </p:nvSpPr>
        <p:spPr>
          <a:xfrm>
            <a:off x="594360" y="4572000"/>
            <a:ext cx="7955280" cy="274320"/>
          </a:xfrm>
          <a:prstGeom prst="rect">
            <a:avLst/>
          </a:prstGeom>
          <a:noFill/>
          <a:ln/>
        </p:spPr>
        <p:txBody>
          <a:bodyPr wrap="square" rtlCol="0" anchor="ctr"/>
          <a:lstStyle/>
          <a:p>
            <a:pPr algn="ctr" indent="0" marL="0">
              <a:buNone/>
            </a:pPr>
            <a:r>
              <a:rPr lang="en-US" sz="1000" i="1" dirty="0">
                <a:solidFill>
                  <a:srgbClr val="1A7FA5"/>
                </a:solidFill>
                <a:latin typeface="Calibri" pitchFamily="34" charset="0"/>
                <a:ea typeface="Calibri" pitchFamily="34" charset="-122"/>
                <a:cs typeface="Calibri" pitchFamily="34" charset="-120"/>
              </a:rPr>
              <a:t>Honest disclosure: we validate on coverage AND independence. Count-only backtests would rubber-stamp a weaker model — ours passes both.</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C5B"/>
        </a:solidFill>
      </p:bgPr>
    </p:bg>
    <p:spTree>
      <p:nvGrpSpPr>
        <p:cNvPr id="1" name=""/>
        <p:cNvGrpSpPr/>
        <p:nvPr/>
      </p:nvGrpSpPr>
      <p:grpSpPr>
        <a:xfrm>
          <a:off x="0" y="0"/>
          <a:ext cx="0" cy="0"/>
          <a:chOff x="0" y="0"/>
          <a:chExt cx="0" cy="0"/>
        </a:xfrm>
      </p:grpSpPr>
      <p:sp>
        <p:nvSpPr>
          <p:cNvPr id="2" name="Text 0"/>
          <p:cNvSpPr/>
          <p:nvPr/>
        </p:nvSpPr>
        <p:spPr>
          <a:xfrm>
            <a:off x="594360" y="640080"/>
            <a:ext cx="7955280" cy="320040"/>
          </a:xfrm>
          <a:prstGeom prst="rect">
            <a:avLst/>
          </a:prstGeom>
          <a:noFill/>
          <a:ln/>
        </p:spPr>
        <p:txBody>
          <a:bodyPr wrap="square" rtlCol="0" anchor="ctr"/>
          <a:lstStyle/>
          <a:p>
            <a:pPr algn="l" indent="0" marL="0">
              <a:buNone/>
            </a:pPr>
            <a:r>
              <a:rPr lang="en-US" sz="900" spc="400" kern="0" dirty="0">
                <a:solidFill>
                  <a:srgbClr val="CADCFC"/>
                </a:solidFill>
                <a:latin typeface="Calibri" pitchFamily="34" charset="0"/>
                <a:ea typeface="Calibri" pitchFamily="34" charset="-122"/>
                <a:cs typeface="Calibri" pitchFamily="34" charset="-120"/>
              </a:rPr>
              <a:t>LIVE CASE STUDY</a:t>
            </a:r>
            <a:endParaRPr lang="en-US" sz="900" dirty="0"/>
          </a:p>
        </p:txBody>
      </p:sp>
      <p:sp>
        <p:nvSpPr>
          <p:cNvPr id="3" name="Text 1"/>
          <p:cNvSpPr/>
          <p:nvPr/>
        </p:nvSpPr>
        <p:spPr>
          <a:xfrm>
            <a:off x="594360" y="1005840"/>
            <a:ext cx="8229600" cy="1737360"/>
          </a:xfrm>
          <a:prstGeom prst="rect">
            <a:avLst/>
          </a:prstGeom>
          <a:noFill/>
          <a:ln/>
        </p:spPr>
        <p:txBody>
          <a:bodyPr wrap="square" rtlCol="0" anchor="ctr"/>
          <a:lstStyle/>
          <a:p>
            <a:pPr indent="0" marL="0">
              <a:lnSpc>
                <a:spcPct val="110000"/>
              </a:lnSpc>
              <a:buNone/>
            </a:pPr>
            <a:r>
              <a:rPr lang="en-US" sz="5000" b="1" dirty="0">
                <a:solidFill>
                  <a:srgbClr val="FFFFFF"/>
                </a:solidFill>
                <a:latin typeface="Cambria" pitchFamily="34" charset="0"/>
                <a:ea typeface="Cambria" pitchFamily="34" charset="-122"/>
                <a:cs typeface="Cambria" pitchFamily="34" charset="-120"/>
              </a:rPr>
              <a:t>Vodacom Acquires</a:t>
            </a:r>
            <a:endParaRPr lang="en-US" sz="5000" dirty="0"/>
          </a:p>
          <a:p>
            <a:pPr indent="0" marL="0">
              <a:lnSpc>
                <a:spcPct val="110000"/>
              </a:lnSpc>
              <a:buNone/>
            </a:pPr>
            <a:r>
              <a:rPr lang="en-US" sz="5000" b="1" dirty="0">
                <a:solidFill>
                  <a:srgbClr val="FFFFFF"/>
                </a:solidFill>
                <a:latin typeface="Cambria" pitchFamily="34" charset="0"/>
                <a:ea typeface="Cambria" pitchFamily="34" charset="-122"/>
                <a:cs typeface="Cambria" pitchFamily="34" charset="-120"/>
              </a:rPr>
              <a:t>Safaricom</a:t>
            </a:r>
            <a:endParaRPr lang="en-US" sz="5000" dirty="0"/>
          </a:p>
        </p:txBody>
      </p:sp>
      <p:sp>
        <p:nvSpPr>
          <p:cNvPr id="4" name="Shape 2"/>
          <p:cNvSpPr/>
          <p:nvPr/>
        </p:nvSpPr>
        <p:spPr>
          <a:xfrm>
            <a:off x="365760" y="2880360"/>
            <a:ext cx="1965960" cy="1554480"/>
          </a:xfrm>
          <a:prstGeom prst="roundRect">
            <a:avLst>
              <a:gd name="adj" fmla="val 4706"/>
            </a:avLst>
          </a:prstGeom>
          <a:solidFill>
            <a:srgbClr val="2A4080">
              <a:alpha val="70000"/>
            </a:srgbClr>
          </a:solidFill>
          <a:ln w="6350">
            <a:solidFill>
              <a:srgbClr val="CADCFC"/>
            </a:solidFill>
            <a:prstDash val="solid"/>
          </a:ln>
        </p:spPr>
      </p:sp>
      <p:sp>
        <p:nvSpPr>
          <p:cNvPr id="5" name="Text 3"/>
          <p:cNvSpPr/>
          <p:nvPr/>
        </p:nvSpPr>
        <p:spPr>
          <a:xfrm>
            <a:off x="457200" y="2999232"/>
            <a:ext cx="1783080" cy="685800"/>
          </a:xfrm>
          <a:prstGeom prst="rect">
            <a:avLst/>
          </a:prstGeom>
          <a:noFill/>
          <a:ln/>
        </p:spPr>
        <p:txBody>
          <a:bodyPr wrap="square"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$2.1B</a:t>
            </a:r>
            <a:endParaRPr lang="en-US" sz="2800" dirty="0"/>
          </a:p>
        </p:txBody>
      </p:sp>
      <p:sp>
        <p:nvSpPr>
          <p:cNvPr id="6" name="Text 4"/>
          <p:cNvSpPr/>
          <p:nvPr/>
        </p:nvSpPr>
        <p:spPr>
          <a:xfrm>
            <a:off x="457200" y="3703320"/>
            <a:ext cx="1783080" cy="548640"/>
          </a:xfrm>
          <a:prstGeom prst="rect">
            <a:avLst/>
          </a:prstGeom>
          <a:noFill/>
          <a:ln/>
        </p:spPr>
        <p:txBody>
          <a:bodyPr wrap="square" rtlCol="0" anchor="ctr"/>
          <a:lstStyle/>
          <a:p>
            <a:pPr algn="ctr" indent="0" marL="0">
              <a:buNone/>
            </a:pPr>
            <a:r>
              <a:rPr lang="en-US" sz="1000" dirty="0">
                <a:solidFill>
                  <a:srgbClr val="CADCFC"/>
                </a:solidFill>
                <a:latin typeface="Calibri" pitchFamily="34" charset="0"/>
                <a:ea typeface="Calibri" pitchFamily="34" charset="-122"/>
                <a:cs typeface="Calibri" pitchFamily="34" charset="-120"/>
              </a:rPr>
              <a:t>Deal Value</a:t>
            </a:r>
            <a:endParaRPr lang="en-US" sz="1000" dirty="0"/>
          </a:p>
        </p:txBody>
      </p:sp>
      <p:sp>
        <p:nvSpPr>
          <p:cNvPr id="7" name="Shape 5"/>
          <p:cNvSpPr/>
          <p:nvPr/>
        </p:nvSpPr>
        <p:spPr>
          <a:xfrm>
            <a:off x="2542032" y="2880360"/>
            <a:ext cx="1965960" cy="1554480"/>
          </a:xfrm>
          <a:prstGeom prst="roundRect">
            <a:avLst>
              <a:gd name="adj" fmla="val 4706"/>
            </a:avLst>
          </a:prstGeom>
          <a:solidFill>
            <a:srgbClr val="2A4080">
              <a:alpha val="70000"/>
            </a:srgbClr>
          </a:solidFill>
          <a:ln w="6350">
            <a:solidFill>
              <a:srgbClr val="CADCFC"/>
            </a:solidFill>
            <a:prstDash val="solid"/>
          </a:ln>
        </p:spPr>
      </p:sp>
      <p:sp>
        <p:nvSpPr>
          <p:cNvPr id="8" name="Text 6"/>
          <p:cNvSpPr/>
          <p:nvPr/>
        </p:nvSpPr>
        <p:spPr>
          <a:xfrm>
            <a:off x="2633472" y="2999232"/>
            <a:ext cx="1783080" cy="685800"/>
          </a:xfrm>
          <a:prstGeom prst="rect">
            <a:avLst/>
          </a:prstGeom>
          <a:noFill/>
          <a:ln/>
        </p:spPr>
        <p:txBody>
          <a:bodyPr wrap="square"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55%</a:t>
            </a:r>
            <a:endParaRPr lang="en-US" sz="2800" dirty="0"/>
          </a:p>
        </p:txBody>
      </p:sp>
      <p:sp>
        <p:nvSpPr>
          <p:cNvPr id="9" name="Text 7"/>
          <p:cNvSpPr/>
          <p:nvPr/>
        </p:nvSpPr>
        <p:spPr>
          <a:xfrm>
            <a:off x="2633472" y="3703320"/>
            <a:ext cx="1783080" cy="548640"/>
          </a:xfrm>
          <a:prstGeom prst="rect">
            <a:avLst/>
          </a:prstGeom>
          <a:noFill/>
          <a:ln/>
        </p:spPr>
        <p:txBody>
          <a:bodyPr wrap="square" rtlCol="0" anchor="ctr"/>
          <a:lstStyle/>
          <a:p>
            <a:pPr algn="ctr" indent="0" marL="0">
              <a:buNone/>
            </a:pPr>
            <a:r>
              <a:rPr lang="en-US" sz="1000" dirty="0">
                <a:solidFill>
                  <a:srgbClr val="CADCFC"/>
                </a:solidFill>
                <a:latin typeface="Calibri" pitchFamily="34" charset="0"/>
                <a:ea typeface="Calibri" pitchFamily="34" charset="-122"/>
                <a:cs typeface="Calibri" pitchFamily="34" charset="-120"/>
              </a:rPr>
              <a:t>Vodacom's Stake</a:t>
            </a:r>
            <a:endParaRPr lang="en-US" sz="1000" dirty="0"/>
          </a:p>
          <a:p>
            <a:pPr algn="ctr" indent="0" marL="0">
              <a:buNone/>
            </a:pPr>
            <a:r>
              <a:rPr lang="en-US" sz="1000" dirty="0">
                <a:solidFill>
                  <a:srgbClr val="CADCFC"/>
                </a:solidFill>
                <a:latin typeface="Calibri" pitchFamily="34" charset="0"/>
                <a:ea typeface="Calibri" pitchFamily="34" charset="-122"/>
                <a:cs typeface="Calibri" pitchFamily="34" charset="-120"/>
              </a:rPr>
              <a:t>Post-Acquisition</a:t>
            </a:r>
            <a:endParaRPr lang="en-US" sz="1000" dirty="0"/>
          </a:p>
        </p:txBody>
      </p:sp>
      <p:sp>
        <p:nvSpPr>
          <p:cNvPr id="10" name="Shape 8"/>
          <p:cNvSpPr/>
          <p:nvPr/>
        </p:nvSpPr>
        <p:spPr>
          <a:xfrm>
            <a:off x="4718304" y="2880360"/>
            <a:ext cx="1965960" cy="1554480"/>
          </a:xfrm>
          <a:prstGeom prst="roundRect">
            <a:avLst>
              <a:gd name="adj" fmla="val 4706"/>
            </a:avLst>
          </a:prstGeom>
          <a:solidFill>
            <a:srgbClr val="2A4080">
              <a:alpha val="70000"/>
            </a:srgbClr>
          </a:solidFill>
          <a:ln w="6350">
            <a:solidFill>
              <a:srgbClr val="CADCFC"/>
            </a:solidFill>
            <a:prstDash val="solid"/>
          </a:ln>
        </p:spPr>
      </p:sp>
      <p:sp>
        <p:nvSpPr>
          <p:cNvPr id="11" name="Text 9"/>
          <p:cNvSpPr/>
          <p:nvPr/>
        </p:nvSpPr>
        <p:spPr>
          <a:xfrm>
            <a:off x="4809744" y="2999232"/>
            <a:ext cx="1783080" cy="685800"/>
          </a:xfrm>
          <a:prstGeom prst="rect">
            <a:avLst/>
          </a:prstGeom>
          <a:noFill/>
          <a:ln/>
        </p:spPr>
        <p:txBody>
          <a:bodyPr wrap="square"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+91%</a:t>
            </a:r>
            <a:endParaRPr lang="en-US" sz="2800" dirty="0"/>
          </a:p>
        </p:txBody>
      </p:sp>
      <p:sp>
        <p:nvSpPr>
          <p:cNvPr id="12" name="Text 10"/>
          <p:cNvSpPr/>
          <p:nvPr/>
        </p:nvSpPr>
        <p:spPr>
          <a:xfrm>
            <a:off x="4809744" y="3703320"/>
            <a:ext cx="1783080" cy="548640"/>
          </a:xfrm>
          <a:prstGeom prst="rect">
            <a:avLst/>
          </a:prstGeom>
          <a:noFill/>
          <a:ln/>
        </p:spPr>
        <p:txBody>
          <a:bodyPr wrap="square" rtlCol="0" anchor="ctr"/>
          <a:lstStyle/>
          <a:p>
            <a:pPr algn="ctr" indent="0" marL="0">
              <a:buNone/>
            </a:pPr>
            <a:r>
              <a:rPr lang="en-US" sz="1000" dirty="0">
                <a:solidFill>
                  <a:srgbClr val="CADCFC"/>
                </a:solidFill>
                <a:latin typeface="Calibri" pitchFamily="34" charset="0"/>
                <a:ea typeface="Calibri" pitchFamily="34" charset="-122"/>
                <a:cs typeface="Calibri" pitchFamily="34" charset="-120"/>
              </a:rPr>
              <a:t>SCOM Price</a:t>
            </a:r>
            <a:endParaRPr lang="en-US" sz="1000" dirty="0"/>
          </a:p>
          <a:p>
            <a:pPr algn="ctr" indent="0" marL="0">
              <a:buNone/>
            </a:pPr>
            <a:r>
              <a:rPr lang="en-US" sz="1000" dirty="0">
                <a:solidFill>
                  <a:srgbClr val="CADCFC"/>
                </a:solidFill>
                <a:latin typeface="Calibri" pitchFamily="34" charset="0"/>
                <a:ea typeface="Calibri" pitchFamily="34" charset="-122"/>
                <a:cs typeface="Calibri" pitchFamily="34" charset="-120"/>
              </a:rPr>
              <a:t>Oct 2024 → Jun 2026</a:t>
            </a:r>
            <a:endParaRPr lang="en-US" sz="1000" dirty="0"/>
          </a:p>
        </p:txBody>
      </p:sp>
      <p:sp>
        <p:nvSpPr>
          <p:cNvPr id="13" name="Shape 11"/>
          <p:cNvSpPr/>
          <p:nvPr/>
        </p:nvSpPr>
        <p:spPr>
          <a:xfrm>
            <a:off x="6894576" y="2880360"/>
            <a:ext cx="1965960" cy="1554480"/>
          </a:xfrm>
          <a:prstGeom prst="roundRect">
            <a:avLst>
              <a:gd name="adj" fmla="val 4706"/>
            </a:avLst>
          </a:prstGeom>
          <a:solidFill>
            <a:srgbClr val="2A4080">
              <a:alpha val="70000"/>
            </a:srgbClr>
          </a:solidFill>
          <a:ln w="6350">
            <a:solidFill>
              <a:srgbClr val="CADCFC"/>
            </a:solidFill>
            <a:prstDash val="solid"/>
          </a:ln>
        </p:spPr>
      </p:sp>
      <p:sp>
        <p:nvSpPr>
          <p:cNvPr id="14" name="Text 12"/>
          <p:cNvSpPr/>
          <p:nvPr/>
        </p:nvSpPr>
        <p:spPr>
          <a:xfrm>
            <a:off x="6986016" y="2999232"/>
            <a:ext cx="1783080" cy="685800"/>
          </a:xfrm>
          <a:prstGeom prst="rect">
            <a:avLst/>
          </a:prstGeom>
          <a:noFill/>
          <a:ln/>
        </p:spPr>
        <p:txBody>
          <a:bodyPr wrap="square"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Jun 30, 2026</a:t>
            </a:r>
            <a:endParaRPr lang="en-US" sz="2800" dirty="0"/>
          </a:p>
        </p:txBody>
      </p:sp>
      <p:sp>
        <p:nvSpPr>
          <p:cNvPr id="15" name="Text 13"/>
          <p:cNvSpPr/>
          <p:nvPr/>
        </p:nvSpPr>
        <p:spPr>
          <a:xfrm>
            <a:off x="6986016" y="3703320"/>
            <a:ext cx="1783080" cy="548640"/>
          </a:xfrm>
          <a:prstGeom prst="rect">
            <a:avLst/>
          </a:prstGeom>
          <a:noFill/>
          <a:ln/>
        </p:spPr>
        <p:txBody>
          <a:bodyPr wrap="square" rtlCol="0" anchor="ctr"/>
          <a:lstStyle/>
          <a:p>
            <a:pPr algn="ctr" indent="0" marL="0">
              <a:buNone/>
            </a:pPr>
            <a:r>
              <a:rPr lang="en-US" sz="1000" dirty="0">
                <a:solidFill>
                  <a:srgbClr val="CADCFC"/>
                </a:solidFill>
                <a:latin typeface="Calibri" pitchFamily="34" charset="0"/>
                <a:ea typeface="Calibri" pitchFamily="34" charset="-122"/>
                <a:cs typeface="Calibri" pitchFamily="34" charset="-120"/>
              </a:rPr>
              <a:t>Deal Closed</a:t>
            </a:r>
            <a:endParaRPr lang="en-US" sz="1000" dirty="0"/>
          </a:p>
          <a:p>
            <a:pPr algn="ctr" indent="0" marL="0">
              <a:buNone/>
            </a:pPr>
            <a:r>
              <a:rPr lang="en-US" sz="1000" dirty="0">
                <a:solidFill>
                  <a:srgbClr val="CADCFC"/>
                </a:solidFill>
                <a:latin typeface="Calibri" pitchFamily="34" charset="0"/>
                <a:ea typeface="Calibri" pitchFamily="34" charset="-122"/>
                <a:cs typeface="Calibri" pitchFamily="34" charset="-120"/>
              </a:rPr>
              <a:t>(Yesterday)</a:t>
            </a:r>
            <a:endParaRPr lang="en-US" sz="1000" dirty="0"/>
          </a:p>
        </p:txBody>
      </p:sp>
      <p:sp>
        <p:nvSpPr>
          <p:cNvPr id="16" name="Text 14"/>
          <p:cNvSpPr/>
          <p:nvPr/>
        </p:nvSpPr>
        <p:spPr>
          <a:xfrm>
            <a:off x="594360" y="4617720"/>
            <a:ext cx="7955280" cy="320040"/>
          </a:xfrm>
          <a:prstGeom prst="rect">
            <a:avLst/>
          </a:prstGeom>
          <a:noFill/>
          <a:ln/>
        </p:spPr>
        <p:txBody>
          <a:bodyPr wrap="square"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This is the regime shift our model was built to detect.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137160"/>
            <a:ext cx="2743200" cy="228600"/>
          </a:xfrm>
          <a:prstGeom prst="rect">
            <a:avLst/>
          </a:prstGeom>
          <a:noFill/>
          <a:ln/>
        </p:spPr>
        <p:txBody>
          <a:bodyPr wrap="square" rtlCol="0" anchor="ctr"/>
          <a:lstStyle/>
          <a:p>
            <a:pPr indent="0" marL="0">
              <a:buNone/>
            </a:pPr>
            <a:r>
              <a:rPr lang="en-US" sz="800" spc="200" kern="0" dirty="0">
                <a:solidFill>
                  <a:srgbClr val="1A7FA5"/>
                </a:solidFill>
                <a:latin typeface="Calibri" pitchFamily="34" charset="0"/>
                <a:ea typeface="Calibri" pitchFamily="34" charset="-122"/>
                <a:cs typeface="Calibri" pitchFamily="34" charset="-120"/>
              </a:rPr>
              <a:t>STRUCTURAL BREAK ANALYSIS</a:t>
            </a:r>
            <a:endParaRPr lang="en-US" sz="800" dirty="0"/>
          </a:p>
        </p:txBody>
      </p:sp>
      <p:sp>
        <p:nvSpPr>
          <p:cNvPr id="3" name="Text 1"/>
          <p:cNvSpPr/>
          <p:nvPr/>
        </p:nvSpPr>
        <p:spPr>
          <a:xfrm>
            <a:off x="457200" y="411480"/>
            <a:ext cx="8229600" cy="685800"/>
          </a:xfrm>
          <a:prstGeom prst="rect">
            <a:avLst/>
          </a:prstGeom>
          <a:noFill/>
          <a:ln/>
        </p:spPr>
        <p:txBody>
          <a:bodyPr wrap="square" lIns="0" tIns="0" rIns="0" bIns="0" rtlCol="0" anchor="ctr"/>
          <a:lstStyle/>
          <a:p>
            <a:pPr algn="l" indent="0" marL="0">
              <a:buNone/>
            </a:pPr>
            <a:r>
              <a:rPr lang="en-US" sz="3400" b="1" dirty="0">
                <a:solidFill>
                  <a:srgbClr val="1B2C5B"/>
                </a:solidFill>
                <a:latin typeface="Cambria" pitchFamily="34" charset="0"/>
                <a:ea typeface="Cambria" pitchFamily="34" charset="-122"/>
                <a:cs typeface="Cambria" pitchFamily="34" charset="-120"/>
              </a:rPr>
              <a:t>The Vodacom Event: A Textbook Regime Shift</a:t>
            </a:r>
            <a:endParaRPr lang="en-US" sz="3400" dirty="0"/>
          </a:p>
        </p:txBody>
      </p:sp>
      <p:sp>
        <p:nvSpPr>
          <p:cNvPr id="4" name="Shape 2"/>
          <p:cNvSpPr/>
          <p:nvPr/>
        </p:nvSpPr>
        <p:spPr>
          <a:xfrm>
            <a:off x="1371600" y="1325880"/>
            <a:ext cx="54864" cy="3474720"/>
          </a:xfrm>
          <a:prstGeom prst="rect">
            <a:avLst/>
          </a:prstGeom>
          <a:solidFill>
            <a:srgbClr val="CADCFC"/>
          </a:solidFill>
          <a:ln w="12700">
            <a:solidFill>
              <a:srgbClr val="CADCFC"/>
            </a:solidFill>
            <a:prstDash val="solid"/>
          </a:ln>
        </p:spPr>
      </p:sp>
      <p:sp>
        <p:nvSpPr>
          <p:cNvPr id="5" name="Shape 3"/>
          <p:cNvSpPr/>
          <p:nvPr/>
        </p:nvSpPr>
        <p:spPr>
          <a:xfrm>
            <a:off x="1188720" y="1335024"/>
            <a:ext cx="420624" cy="420624"/>
          </a:xfrm>
          <a:prstGeom prst="ellipse">
            <a:avLst/>
          </a:prstGeom>
          <a:solidFill>
            <a:srgbClr val="E74C3C"/>
          </a:solidFill>
          <a:ln w="12700">
            <a:solidFill>
              <a:srgbClr val="E74C3C"/>
            </a:solidFill>
            <a:prstDash val="solid"/>
          </a:ln>
        </p:spPr>
      </p:sp>
      <p:sp>
        <p:nvSpPr>
          <p:cNvPr id="6" name="Text 4"/>
          <p:cNvSpPr/>
          <p:nvPr/>
        </p:nvSpPr>
        <p:spPr>
          <a:xfrm>
            <a:off x="365760" y="1325880"/>
            <a:ext cx="749808" cy="411480"/>
          </a:xfrm>
          <a:prstGeom prst="rect">
            <a:avLst/>
          </a:prstGeom>
          <a:noFill/>
          <a:ln/>
        </p:spPr>
        <p:txBody>
          <a:bodyPr wrap="square" rtlCol="0" anchor="ctr"/>
          <a:lstStyle/>
          <a:p>
            <a:pPr algn="r" indent="0" marL="0">
              <a:buNone/>
            </a:pPr>
            <a:r>
              <a:rPr lang="en-US" sz="900" b="1" dirty="0">
                <a:solidFill>
                  <a:srgbClr val="475569"/>
                </a:solidFill>
                <a:latin typeface="Calibri" pitchFamily="34" charset="0"/>
                <a:ea typeface="Calibri" pitchFamily="34" charset="-122"/>
                <a:cs typeface="Calibri" pitchFamily="34" charset="-120"/>
              </a:rPr>
              <a:t>Oct 2024</a:t>
            </a:r>
            <a:endParaRPr lang="en-US" sz="900" dirty="0"/>
          </a:p>
        </p:txBody>
      </p:sp>
      <p:sp>
        <p:nvSpPr>
          <p:cNvPr id="7" name="Text 5"/>
          <p:cNvSpPr/>
          <p:nvPr/>
        </p:nvSpPr>
        <p:spPr>
          <a:xfrm>
            <a:off x="1737360" y="1325880"/>
            <a:ext cx="3474720" cy="274320"/>
          </a:xfrm>
          <a:prstGeom prst="rect">
            <a:avLst/>
          </a:prstGeom>
          <a:noFill/>
          <a:ln/>
        </p:spPr>
        <p:txBody>
          <a:bodyPr wrap="square" rtlCol="0" anchor="ctr"/>
          <a:lstStyle/>
          <a:p>
            <a:pPr indent="0" marL="0">
              <a:buNone/>
            </a:pPr>
            <a:r>
              <a:rPr lang="en-US" sz="1300" b="1" dirty="0">
                <a:solidFill>
                  <a:srgbClr val="E74C3C"/>
                </a:solidFill>
                <a:latin typeface="Cambria" pitchFamily="34" charset="0"/>
                <a:ea typeface="Cambria" pitchFamily="34" charset="-122"/>
                <a:cs typeface="Cambria" pitchFamily="34" charset="-120"/>
              </a:rPr>
              <a:t>SCOM hits KES 15 low</a:t>
            </a:r>
            <a:endParaRPr lang="en-US" sz="1300" dirty="0"/>
          </a:p>
        </p:txBody>
      </p:sp>
      <p:sp>
        <p:nvSpPr>
          <p:cNvPr id="8" name="Text 6"/>
          <p:cNvSpPr/>
          <p:nvPr/>
        </p:nvSpPr>
        <p:spPr>
          <a:xfrm>
            <a:off x="1737360" y="1600200"/>
            <a:ext cx="3474720" cy="228600"/>
          </a:xfrm>
          <a:prstGeom prst="rect">
            <a:avLst/>
          </a:prstGeom>
          <a:noFill/>
          <a:ln/>
        </p:spPr>
        <p:txBody>
          <a:bodyPr wrap="square" rtlCol="0" anchor="ctr"/>
          <a:lstStyle/>
          <a:p>
            <a:pPr indent="0" marL="0">
              <a:buNone/>
            </a:pPr>
            <a:r>
              <a:rPr lang="en-US" sz="1000" i="1" dirty="0">
                <a:solidFill>
                  <a:srgbClr val="475569"/>
                </a:solidFill>
                <a:latin typeface="Calibri" pitchFamily="34" charset="0"/>
                <a:ea typeface="Calibri" pitchFamily="34" charset="-122"/>
                <a:cs typeface="Calibri" pitchFamily="34" charset="-120"/>
              </a:rPr>
              <a:t>Extreme vol regime (Regime 3)</a:t>
            </a:r>
            <a:endParaRPr lang="en-US" sz="1000" dirty="0"/>
          </a:p>
        </p:txBody>
      </p:sp>
      <p:sp>
        <p:nvSpPr>
          <p:cNvPr id="9" name="Shape 7"/>
          <p:cNvSpPr/>
          <p:nvPr/>
        </p:nvSpPr>
        <p:spPr>
          <a:xfrm>
            <a:off x="1188720" y="2048256"/>
            <a:ext cx="420624" cy="420624"/>
          </a:xfrm>
          <a:prstGeom prst="ellipse">
            <a:avLst/>
          </a:prstGeom>
          <a:solidFill>
            <a:srgbClr val="E67E22"/>
          </a:solidFill>
          <a:ln w="12700">
            <a:solidFill>
              <a:srgbClr val="E67E22"/>
            </a:solidFill>
            <a:prstDash val="solid"/>
          </a:ln>
        </p:spPr>
      </p:sp>
      <p:sp>
        <p:nvSpPr>
          <p:cNvPr id="10" name="Text 8"/>
          <p:cNvSpPr/>
          <p:nvPr/>
        </p:nvSpPr>
        <p:spPr>
          <a:xfrm>
            <a:off x="365760" y="2039112"/>
            <a:ext cx="749808" cy="411480"/>
          </a:xfrm>
          <a:prstGeom prst="rect">
            <a:avLst/>
          </a:prstGeom>
          <a:noFill/>
          <a:ln/>
        </p:spPr>
        <p:txBody>
          <a:bodyPr wrap="square" rtlCol="0" anchor="ctr"/>
          <a:lstStyle/>
          <a:p>
            <a:pPr algn="r" indent="0" marL="0">
              <a:buNone/>
            </a:pPr>
            <a:r>
              <a:rPr lang="en-US" sz="900" b="1" dirty="0">
                <a:solidFill>
                  <a:srgbClr val="475569"/>
                </a:solidFill>
                <a:latin typeface="Calibri" pitchFamily="34" charset="0"/>
                <a:ea typeface="Calibri" pitchFamily="34" charset="-122"/>
                <a:cs typeface="Calibri" pitchFamily="34" charset="-120"/>
              </a:rPr>
              <a:t>Dec 4, 2025</a:t>
            </a:r>
            <a:endParaRPr lang="en-US" sz="900" dirty="0"/>
          </a:p>
        </p:txBody>
      </p:sp>
      <p:sp>
        <p:nvSpPr>
          <p:cNvPr id="11" name="Text 9"/>
          <p:cNvSpPr/>
          <p:nvPr/>
        </p:nvSpPr>
        <p:spPr>
          <a:xfrm>
            <a:off x="1737360" y="2039112"/>
            <a:ext cx="3474720" cy="274320"/>
          </a:xfrm>
          <a:prstGeom prst="rect">
            <a:avLst/>
          </a:prstGeom>
          <a:noFill/>
          <a:ln/>
        </p:spPr>
        <p:txBody>
          <a:bodyPr wrap="square" rtlCol="0" anchor="ctr"/>
          <a:lstStyle/>
          <a:p>
            <a:pPr indent="0" marL="0">
              <a:buNone/>
            </a:pPr>
            <a:r>
              <a:rPr lang="en-US" sz="1300" b="1" dirty="0">
                <a:solidFill>
                  <a:srgbClr val="E67E22"/>
                </a:solidFill>
                <a:latin typeface="Cambria" pitchFamily="34" charset="0"/>
                <a:ea typeface="Cambria" pitchFamily="34" charset="-122"/>
                <a:cs typeface="Cambria" pitchFamily="34" charset="-120"/>
              </a:rPr>
              <a:t>Vodacom deal announced</a:t>
            </a:r>
            <a:endParaRPr lang="en-US" sz="1300" dirty="0"/>
          </a:p>
        </p:txBody>
      </p:sp>
      <p:sp>
        <p:nvSpPr>
          <p:cNvPr id="12" name="Text 10"/>
          <p:cNvSpPr/>
          <p:nvPr/>
        </p:nvSpPr>
        <p:spPr>
          <a:xfrm>
            <a:off x="1737360" y="2313432"/>
            <a:ext cx="3474720" cy="228600"/>
          </a:xfrm>
          <a:prstGeom prst="rect">
            <a:avLst/>
          </a:prstGeom>
          <a:noFill/>
          <a:ln/>
        </p:spPr>
        <p:txBody>
          <a:bodyPr wrap="square" rtlCol="0" anchor="ctr"/>
          <a:lstStyle/>
          <a:p>
            <a:pPr indent="0" marL="0">
              <a:buNone/>
            </a:pPr>
            <a:r>
              <a:rPr lang="en-US" sz="1000" i="1" dirty="0">
                <a:solidFill>
                  <a:srgbClr val="475569"/>
                </a:solidFill>
                <a:latin typeface="Calibri" pitchFamily="34" charset="0"/>
                <a:ea typeface="Calibri" pitchFamily="34" charset="-122"/>
                <a:cs typeface="Calibri" pitchFamily="34" charset="-120"/>
              </a:rPr>
              <a:t>Structural break: Zivot-Andrews detectable</a:t>
            </a:r>
            <a:endParaRPr lang="en-US" sz="1000" dirty="0"/>
          </a:p>
        </p:txBody>
      </p:sp>
      <p:sp>
        <p:nvSpPr>
          <p:cNvPr id="13" name="Shape 11"/>
          <p:cNvSpPr/>
          <p:nvPr/>
        </p:nvSpPr>
        <p:spPr>
          <a:xfrm>
            <a:off x="1188720" y="2761488"/>
            <a:ext cx="420624" cy="420624"/>
          </a:xfrm>
          <a:prstGeom prst="ellipse">
            <a:avLst/>
          </a:prstGeom>
          <a:solidFill>
            <a:srgbClr val="2980B9"/>
          </a:solidFill>
          <a:ln w="12700">
            <a:solidFill>
              <a:srgbClr val="2980B9"/>
            </a:solidFill>
            <a:prstDash val="solid"/>
          </a:ln>
        </p:spPr>
      </p:sp>
      <p:sp>
        <p:nvSpPr>
          <p:cNvPr id="14" name="Text 12"/>
          <p:cNvSpPr/>
          <p:nvPr/>
        </p:nvSpPr>
        <p:spPr>
          <a:xfrm>
            <a:off x="365760" y="2752344"/>
            <a:ext cx="749808" cy="411480"/>
          </a:xfrm>
          <a:prstGeom prst="rect">
            <a:avLst/>
          </a:prstGeom>
          <a:noFill/>
          <a:ln/>
        </p:spPr>
        <p:txBody>
          <a:bodyPr wrap="square" rtlCol="0" anchor="ctr"/>
          <a:lstStyle/>
          <a:p>
            <a:pPr algn="r" indent="0" marL="0">
              <a:buNone/>
            </a:pPr>
            <a:r>
              <a:rPr lang="en-US" sz="900" b="1" dirty="0">
                <a:solidFill>
                  <a:srgbClr val="475569"/>
                </a:solidFill>
                <a:latin typeface="Calibri" pitchFamily="34" charset="0"/>
                <a:ea typeface="Calibri" pitchFamily="34" charset="-122"/>
                <a:cs typeface="Calibri" pitchFamily="34" charset="-120"/>
              </a:rPr>
              <a:t>Dec–Jun</a:t>
            </a:r>
            <a:endParaRPr lang="en-US" sz="900" dirty="0"/>
          </a:p>
        </p:txBody>
      </p:sp>
      <p:sp>
        <p:nvSpPr>
          <p:cNvPr id="15" name="Text 13"/>
          <p:cNvSpPr/>
          <p:nvPr/>
        </p:nvSpPr>
        <p:spPr>
          <a:xfrm>
            <a:off x="1737360" y="2752344"/>
            <a:ext cx="3474720" cy="274320"/>
          </a:xfrm>
          <a:prstGeom prst="rect">
            <a:avLst/>
          </a:prstGeom>
          <a:noFill/>
          <a:ln/>
        </p:spPr>
        <p:txBody>
          <a:bodyPr wrap="square" rtlCol="0" anchor="ctr"/>
          <a:lstStyle/>
          <a:p>
            <a:pPr indent="0" marL="0">
              <a:buNone/>
            </a:pPr>
            <a:r>
              <a:rPr lang="en-US" sz="1300" b="1" dirty="0">
                <a:solidFill>
                  <a:srgbClr val="2980B9"/>
                </a:solidFill>
                <a:latin typeface="Cambria" pitchFamily="34" charset="0"/>
                <a:ea typeface="Cambria" pitchFamily="34" charset="-122"/>
                <a:cs typeface="Cambria" pitchFamily="34" charset="-120"/>
              </a:rPr>
              <a:t>Price rallies to KES 28.75</a:t>
            </a:r>
            <a:endParaRPr lang="en-US" sz="1300" dirty="0"/>
          </a:p>
        </p:txBody>
      </p:sp>
      <p:sp>
        <p:nvSpPr>
          <p:cNvPr id="16" name="Text 14"/>
          <p:cNvSpPr/>
          <p:nvPr/>
        </p:nvSpPr>
        <p:spPr>
          <a:xfrm>
            <a:off x="1737360" y="3026664"/>
            <a:ext cx="3474720" cy="228600"/>
          </a:xfrm>
          <a:prstGeom prst="rect">
            <a:avLst/>
          </a:prstGeom>
          <a:noFill/>
          <a:ln/>
        </p:spPr>
        <p:txBody>
          <a:bodyPr wrap="square" rtlCol="0" anchor="ctr"/>
          <a:lstStyle/>
          <a:p>
            <a:pPr indent="0" marL="0">
              <a:buNone/>
            </a:pPr>
            <a:r>
              <a:rPr lang="en-US" sz="1000" i="1" dirty="0">
                <a:solidFill>
                  <a:srgbClr val="475569"/>
                </a:solidFill>
                <a:latin typeface="Calibri" pitchFamily="34" charset="0"/>
                <a:ea typeface="Calibri" pitchFamily="34" charset="-122"/>
                <a:cs typeface="Calibri" pitchFamily="34" charset="-120"/>
              </a:rPr>
              <a:t>Moderate → Low vol transition</a:t>
            </a:r>
            <a:endParaRPr lang="en-US" sz="1000" dirty="0"/>
          </a:p>
        </p:txBody>
      </p:sp>
      <p:sp>
        <p:nvSpPr>
          <p:cNvPr id="17" name="Shape 15"/>
          <p:cNvSpPr/>
          <p:nvPr/>
        </p:nvSpPr>
        <p:spPr>
          <a:xfrm>
            <a:off x="1188720" y="3474720"/>
            <a:ext cx="420624" cy="420624"/>
          </a:xfrm>
          <a:prstGeom prst="ellipse">
            <a:avLst/>
          </a:prstGeom>
          <a:solidFill>
            <a:srgbClr val="1A7FA5"/>
          </a:solidFill>
          <a:ln w="12700">
            <a:solidFill>
              <a:srgbClr val="1A7FA5"/>
            </a:solidFill>
            <a:prstDash val="solid"/>
          </a:ln>
        </p:spPr>
      </p:sp>
      <p:sp>
        <p:nvSpPr>
          <p:cNvPr id="18" name="Text 16"/>
          <p:cNvSpPr/>
          <p:nvPr/>
        </p:nvSpPr>
        <p:spPr>
          <a:xfrm>
            <a:off x="365760" y="3465576"/>
            <a:ext cx="749808" cy="411480"/>
          </a:xfrm>
          <a:prstGeom prst="rect">
            <a:avLst/>
          </a:prstGeom>
          <a:noFill/>
          <a:ln/>
        </p:spPr>
        <p:txBody>
          <a:bodyPr wrap="square" rtlCol="0" anchor="ctr"/>
          <a:lstStyle/>
          <a:p>
            <a:pPr algn="r" indent="0" marL="0">
              <a:buNone/>
            </a:pPr>
            <a:r>
              <a:rPr lang="en-US" sz="900" b="1" dirty="0">
                <a:solidFill>
                  <a:srgbClr val="475569"/>
                </a:solidFill>
                <a:latin typeface="Calibri" pitchFamily="34" charset="0"/>
                <a:ea typeface="Calibri" pitchFamily="34" charset="-122"/>
                <a:cs typeface="Calibri" pitchFamily="34" charset="-120"/>
              </a:rPr>
              <a:t>Jun 30, 2026</a:t>
            </a:r>
            <a:endParaRPr lang="en-US" sz="900" dirty="0"/>
          </a:p>
        </p:txBody>
      </p:sp>
      <p:sp>
        <p:nvSpPr>
          <p:cNvPr id="19" name="Text 17"/>
          <p:cNvSpPr/>
          <p:nvPr/>
        </p:nvSpPr>
        <p:spPr>
          <a:xfrm>
            <a:off x="1737360" y="3465576"/>
            <a:ext cx="3474720" cy="274320"/>
          </a:xfrm>
          <a:prstGeom prst="rect">
            <a:avLst/>
          </a:prstGeom>
          <a:noFill/>
          <a:ln/>
        </p:spPr>
        <p:txBody>
          <a:bodyPr wrap="square" rtlCol="0" anchor="ctr"/>
          <a:lstStyle/>
          <a:p>
            <a:pPr indent="0" marL="0">
              <a:buNone/>
            </a:pPr>
            <a:r>
              <a:rPr lang="en-US" sz="1300" b="1" dirty="0">
                <a:solidFill>
                  <a:srgbClr val="1A7FA5"/>
                </a:solidFill>
                <a:latin typeface="Cambria" pitchFamily="34" charset="0"/>
                <a:ea typeface="Cambria" pitchFamily="34" charset="-122"/>
                <a:cs typeface="Cambria" pitchFamily="34" charset="-120"/>
              </a:rPr>
              <a:t>Deal closes: Vodacom 55%</a:t>
            </a:r>
            <a:endParaRPr lang="en-US" sz="1300" dirty="0"/>
          </a:p>
        </p:txBody>
      </p:sp>
      <p:sp>
        <p:nvSpPr>
          <p:cNvPr id="20" name="Text 18"/>
          <p:cNvSpPr/>
          <p:nvPr/>
        </p:nvSpPr>
        <p:spPr>
          <a:xfrm>
            <a:off x="1737360" y="3739896"/>
            <a:ext cx="3474720" cy="228600"/>
          </a:xfrm>
          <a:prstGeom prst="rect">
            <a:avLst/>
          </a:prstGeom>
          <a:noFill/>
          <a:ln/>
        </p:spPr>
        <p:txBody>
          <a:bodyPr wrap="square" rtlCol="0" anchor="ctr"/>
          <a:lstStyle/>
          <a:p>
            <a:pPr indent="0" marL="0">
              <a:buNone/>
            </a:pPr>
            <a:r>
              <a:rPr lang="en-US" sz="1000" i="1" dirty="0">
                <a:solidFill>
                  <a:srgbClr val="475569"/>
                </a:solidFill>
                <a:latin typeface="Calibri" pitchFamily="34" charset="0"/>
                <a:ea typeface="Calibri" pitchFamily="34" charset="-122"/>
                <a:cs typeface="Calibri" pitchFamily="34" charset="-120"/>
              </a:rPr>
              <a:t>New structural regime begins</a:t>
            </a:r>
            <a:endParaRPr lang="en-US" sz="1000" dirty="0"/>
          </a:p>
        </p:txBody>
      </p:sp>
      <p:sp>
        <p:nvSpPr>
          <p:cNvPr id="21" name="Shape 19"/>
          <p:cNvSpPr/>
          <p:nvPr/>
        </p:nvSpPr>
        <p:spPr>
          <a:xfrm>
            <a:off x="1188720" y="4187952"/>
            <a:ext cx="420624" cy="420624"/>
          </a:xfrm>
          <a:prstGeom prst="ellipse">
            <a:avLst/>
          </a:prstGeom>
          <a:solidFill>
            <a:srgbClr val="27AE60"/>
          </a:solidFill>
          <a:ln w="12700">
            <a:solidFill>
              <a:srgbClr val="27AE60"/>
            </a:solidFill>
            <a:prstDash val="solid"/>
          </a:ln>
        </p:spPr>
      </p:sp>
      <p:sp>
        <p:nvSpPr>
          <p:cNvPr id="22" name="Text 20"/>
          <p:cNvSpPr/>
          <p:nvPr/>
        </p:nvSpPr>
        <p:spPr>
          <a:xfrm>
            <a:off x="365760" y="4178808"/>
            <a:ext cx="749808" cy="411480"/>
          </a:xfrm>
          <a:prstGeom prst="rect">
            <a:avLst/>
          </a:prstGeom>
          <a:noFill/>
          <a:ln/>
        </p:spPr>
        <p:txBody>
          <a:bodyPr wrap="square" rtlCol="0" anchor="ctr"/>
          <a:lstStyle/>
          <a:p>
            <a:pPr algn="r" indent="0" marL="0">
              <a:buNone/>
            </a:pPr>
            <a:r>
              <a:rPr lang="en-US" sz="900" b="1" dirty="0">
                <a:solidFill>
                  <a:srgbClr val="475569"/>
                </a:solidFill>
                <a:latin typeface="Calibri" pitchFamily="34" charset="0"/>
                <a:ea typeface="Calibri" pitchFamily="34" charset="-122"/>
                <a:cs typeface="Calibri" pitchFamily="34" charset="-120"/>
              </a:rPr>
              <a:t>Jul 2026+</a:t>
            </a:r>
            <a:endParaRPr lang="en-US" sz="900" dirty="0"/>
          </a:p>
        </p:txBody>
      </p:sp>
      <p:sp>
        <p:nvSpPr>
          <p:cNvPr id="23" name="Text 21"/>
          <p:cNvSpPr/>
          <p:nvPr/>
        </p:nvSpPr>
        <p:spPr>
          <a:xfrm>
            <a:off x="1737360" y="4178808"/>
            <a:ext cx="3474720" cy="274320"/>
          </a:xfrm>
          <a:prstGeom prst="rect">
            <a:avLst/>
          </a:prstGeom>
          <a:noFill/>
          <a:ln/>
        </p:spPr>
        <p:txBody>
          <a:bodyPr wrap="square" rtlCol="0" anchor="ctr"/>
          <a:lstStyle/>
          <a:p>
            <a:pPr indent="0" marL="0">
              <a:buNone/>
            </a:pPr>
            <a:r>
              <a:rPr lang="en-US" sz="1300" b="1" dirty="0">
                <a:solidFill>
                  <a:srgbClr val="27AE60"/>
                </a:solidFill>
                <a:latin typeface="Cambria" pitchFamily="34" charset="0"/>
                <a:ea typeface="Cambria" pitchFamily="34" charset="-122"/>
                <a:cs typeface="Cambria" pitchFamily="34" charset="-120"/>
              </a:rPr>
              <a:t>Post-takeover era</a:t>
            </a:r>
            <a:endParaRPr lang="en-US" sz="1300" dirty="0"/>
          </a:p>
        </p:txBody>
      </p:sp>
      <p:sp>
        <p:nvSpPr>
          <p:cNvPr id="24" name="Text 22"/>
          <p:cNvSpPr/>
          <p:nvPr/>
        </p:nvSpPr>
        <p:spPr>
          <a:xfrm>
            <a:off x="1737360" y="4453128"/>
            <a:ext cx="3474720" cy="228600"/>
          </a:xfrm>
          <a:prstGeom prst="rect">
            <a:avLst/>
          </a:prstGeom>
          <a:noFill/>
          <a:ln/>
        </p:spPr>
        <p:txBody>
          <a:bodyPr wrap="square" rtlCol="0" anchor="ctr"/>
          <a:lstStyle/>
          <a:p>
            <a:pPr indent="0" marL="0">
              <a:buNone/>
            </a:pPr>
            <a:r>
              <a:rPr lang="en-US" sz="1000" i="1" dirty="0">
                <a:solidFill>
                  <a:srgbClr val="475569"/>
                </a:solidFill>
                <a:latin typeface="Calibri" pitchFamily="34" charset="0"/>
                <a:ea typeface="Calibri" pitchFamily="34" charset="-122"/>
                <a:cs typeface="Calibri" pitchFamily="34" charset="-120"/>
              </a:rPr>
              <a:t>GMM regime re-calibration needed</a:t>
            </a:r>
            <a:endParaRPr lang="en-US" sz="1000" dirty="0"/>
          </a:p>
        </p:txBody>
      </p:sp>
      <p:sp>
        <p:nvSpPr>
          <p:cNvPr id="25" name="Shape 23"/>
          <p:cNvSpPr/>
          <p:nvPr/>
        </p:nvSpPr>
        <p:spPr>
          <a:xfrm>
            <a:off x="5486400" y="1234440"/>
            <a:ext cx="3291840" cy="3520440"/>
          </a:xfrm>
          <a:prstGeom prst="roundRect">
            <a:avLst>
              <a:gd name="adj" fmla="val 2222"/>
            </a:avLst>
          </a:prstGeom>
          <a:solidFill>
            <a:srgbClr val="E8F4F8"/>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26" name="Text 24"/>
          <p:cNvSpPr/>
          <p:nvPr/>
        </p:nvSpPr>
        <p:spPr>
          <a:xfrm>
            <a:off x="5715000" y="1417320"/>
            <a:ext cx="2834640" cy="365760"/>
          </a:xfrm>
          <a:prstGeom prst="rect">
            <a:avLst/>
          </a:prstGeom>
          <a:noFill/>
          <a:ln/>
        </p:spPr>
        <p:txBody>
          <a:bodyPr wrap="square" rtlCol="0" anchor="ctr"/>
          <a:lstStyle/>
          <a:p>
            <a:pPr indent="0" marL="0">
              <a:buNone/>
            </a:pPr>
            <a:r>
              <a:rPr lang="en-US" sz="1400" b="1" dirty="0">
                <a:solidFill>
                  <a:srgbClr val="1B2C5B"/>
                </a:solidFill>
                <a:latin typeface="Cambria" pitchFamily="34" charset="0"/>
                <a:ea typeface="Cambria" pitchFamily="34" charset="-122"/>
                <a:cs typeface="Cambria" pitchFamily="34" charset="-120"/>
              </a:rPr>
              <a:t>Why This Matters</a:t>
            </a:r>
            <a:endParaRPr lang="en-US" sz="1400" dirty="0"/>
          </a:p>
        </p:txBody>
      </p:sp>
      <p:sp>
        <p:nvSpPr>
          <p:cNvPr id="27" name="Text 25"/>
          <p:cNvSpPr/>
          <p:nvPr/>
        </p:nvSpPr>
        <p:spPr>
          <a:xfrm>
            <a:off x="5715000" y="1901952"/>
            <a:ext cx="2834640" cy="502920"/>
          </a:xfrm>
          <a:prstGeom prst="rect">
            <a:avLst/>
          </a:prstGeom>
          <a:noFill/>
          <a:ln/>
        </p:spPr>
        <p:txBody>
          <a:bodyPr wrap="square" rtlCol="0" anchor="ctr"/>
          <a:lstStyle/>
          <a:p>
            <a:pPr indent="0" marL="0">
              <a:buNone/>
            </a:pPr>
            <a:r>
              <a:rPr lang="en-US" sz="1100" b="1" dirty="0">
                <a:solidFill>
                  <a:srgbClr val="1A7FA5"/>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Ownership change = governance change = new risk profile</a:t>
            </a:r>
            <a:endParaRPr lang="en-US" sz="1100" dirty="0"/>
          </a:p>
        </p:txBody>
      </p:sp>
      <p:sp>
        <p:nvSpPr>
          <p:cNvPr id="28" name="Text 26"/>
          <p:cNvSpPr/>
          <p:nvPr/>
        </p:nvSpPr>
        <p:spPr>
          <a:xfrm>
            <a:off x="5715000" y="2468880"/>
            <a:ext cx="2834640" cy="502920"/>
          </a:xfrm>
          <a:prstGeom prst="rect">
            <a:avLst/>
          </a:prstGeom>
          <a:noFill/>
          <a:ln/>
        </p:spPr>
        <p:txBody>
          <a:bodyPr wrap="square" rtlCol="0" anchor="ctr"/>
          <a:lstStyle/>
          <a:p>
            <a:pPr indent="0" marL="0">
              <a:buNone/>
            </a:pPr>
            <a:r>
              <a:rPr lang="en-US" sz="1100" b="1" dirty="0">
                <a:solidFill>
                  <a:srgbClr val="1A7FA5"/>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Historical regime parameters may not apply in the post-takeover era</a:t>
            </a:r>
            <a:endParaRPr lang="en-US" sz="1100" dirty="0"/>
          </a:p>
        </p:txBody>
      </p:sp>
      <p:sp>
        <p:nvSpPr>
          <p:cNvPr id="29" name="Text 27"/>
          <p:cNvSpPr/>
          <p:nvPr/>
        </p:nvSpPr>
        <p:spPr>
          <a:xfrm>
            <a:off x="5715000" y="3035808"/>
            <a:ext cx="2834640" cy="502920"/>
          </a:xfrm>
          <a:prstGeom prst="rect">
            <a:avLst/>
          </a:prstGeom>
          <a:noFill/>
          <a:ln/>
        </p:spPr>
        <p:txBody>
          <a:bodyPr wrap="square" rtlCol="0" anchor="ctr"/>
          <a:lstStyle/>
          <a:p>
            <a:pPr indent="0" marL="0">
              <a:buNone/>
            </a:pPr>
            <a:r>
              <a:rPr lang="en-US" sz="1100" b="1" dirty="0">
                <a:solidFill>
                  <a:srgbClr val="1A7FA5"/>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This is an OUT-OF-SAMPLE structural break — validation of theory, not overfitting</a:t>
            </a:r>
            <a:endParaRPr lang="en-US" sz="1100" dirty="0"/>
          </a:p>
        </p:txBody>
      </p:sp>
      <p:sp>
        <p:nvSpPr>
          <p:cNvPr id="30" name="Text 28"/>
          <p:cNvSpPr/>
          <p:nvPr/>
        </p:nvSpPr>
        <p:spPr>
          <a:xfrm>
            <a:off x="5715000" y="3602736"/>
            <a:ext cx="2834640" cy="502920"/>
          </a:xfrm>
          <a:prstGeom prst="rect">
            <a:avLst/>
          </a:prstGeom>
          <a:noFill/>
          <a:ln/>
        </p:spPr>
        <p:txBody>
          <a:bodyPr wrap="square" rtlCol="0" anchor="ctr"/>
          <a:lstStyle/>
          <a:p>
            <a:pPr indent="0" marL="0">
              <a:buNone/>
            </a:pPr>
            <a:r>
              <a:rPr lang="en-US" sz="1100" b="1" dirty="0">
                <a:solidFill>
                  <a:srgbClr val="1A7FA5"/>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GARCH model should be re-estimated on post-Jun 2026 data as it accumulates</a:t>
            </a:r>
            <a:endParaRPr lang="en-US" sz="1100" dirty="0"/>
          </a:p>
        </p:txBody>
      </p:sp>
      <p:sp>
        <p:nvSpPr>
          <p:cNvPr id="31" name="Text 29"/>
          <p:cNvSpPr/>
          <p:nvPr/>
        </p:nvSpPr>
        <p:spPr>
          <a:xfrm>
            <a:off x="5715000" y="4169664"/>
            <a:ext cx="2834640" cy="502920"/>
          </a:xfrm>
          <a:prstGeom prst="rect">
            <a:avLst/>
          </a:prstGeom>
          <a:noFill/>
          <a:ln/>
        </p:spPr>
        <p:txBody>
          <a:bodyPr wrap="square" rtlCol="0" anchor="ctr"/>
          <a:lstStyle/>
          <a:p>
            <a:pPr indent="0" marL="0">
              <a:buNone/>
            </a:pPr>
            <a:r>
              <a:rPr lang="en-US" sz="1100" b="1" dirty="0">
                <a:solidFill>
                  <a:srgbClr val="1A7FA5"/>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Transition from Kenyan-majority to Vodacom-majority changes strategic risk factors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137160"/>
            <a:ext cx="2743200" cy="228600"/>
          </a:xfrm>
          <a:prstGeom prst="rect">
            <a:avLst/>
          </a:prstGeom>
          <a:noFill/>
          <a:ln/>
        </p:spPr>
        <p:txBody>
          <a:bodyPr wrap="square" rtlCol="0" anchor="ctr"/>
          <a:lstStyle/>
          <a:p>
            <a:pPr indent="0" marL="0">
              <a:buNone/>
            </a:pPr>
            <a:r>
              <a:rPr lang="en-US" sz="800" spc="200" kern="0" dirty="0">
                <a:solidFill>
                  <a:srgbClr val="1A7FA5"/>
                </a:solidFill>
                <a:latin typeface="Calibri" pitchFamily="34" charset="0"/>
                <a:ea typeface="Calibri" pitchFamily="34" charset="-122"/>
                <a:cs typeface="Calibri" pitchFamily="34" charset="-120"/>
              </a:rPr>
              <a:t>LIVE DEMO</a:t>
            </a:r>
            <a:endParaRPr lang="en-US" sz="800" dirty="0"/>
          </a:p>
        </p:txBody>
      </p:sp>
      <p:sp>
        <p:nvSpPr>
          <p:cNvPr id="3" name="Text 1"/>
          <p:cNvSpPr/>
          <p:nvPr/>
        </p:nvSpPr>
        <p:spPr>
          <a:xfrm>
            <a:off x="457200" y="411480"/>
            <a:ext cx="8229600" cy="685800"/>
          </a:xfrm>
          <a:prstGeom prst="rect">
            <a:avLst/>
          </a:prstGeom>
          <a:noFill/>
          <a:ln/>
        </p:spPr>
        <p:txBody>
          <a:bodyPr wrap="square" lIns="0" tIns="0" rIns="0" bIns="0" rtlCol="0" anchor="ctr"/>
          <a:lstStyle/>
          <a:p>
            <a:pPr algn="l" indent="0" marL="0">
              <a:buNone/>
            </a:pPr>
            <a:r>
              <a:rPr lang="en-US" sz="3400" b="1" dirty="0">
                <a:solidFill>
                  <a:srgbClr val="1B2C5B"/>
                </a:solidFill>
                <a:latin typeface="Cambria" pitchFamily="34" charset="0"/>
                <a:ea typeface="Cambria" pitchFamily="34" charset="-122"/>
                <a:cs typeface="Cambria" pitchFamily="34" charset="-120"/>
              </a:rPr>
              <a:t>Interactive Dashboard — Streamlit</a:t>
            </a:r>
            <a:endParaRPr lang="en-US" sz="3400" dirty="0"/>
          </a:p>
        </p:txBody>
      </p:sp>
      <p:sp>
        <p:nvSpPr>
          <p:cNvPr id="4" name="Shape 2"/>
          <p:cNvSpPr/>
          <p:nvPr/>
        </p:nvSpPr>
        <p:spPr>
          <a:xfrm>
            <a:off x="365760" y="1188720"/>
            <a:ext cx="8412480" cy="548640"/>
          </a:xfrm>
          <a:prstGeom prst="roundRect">
            <a:avLst>
              <a:gd name="adj" fmla="val 13333"/>
            </a:avLst>
          </a:prstGeom>
          <a:solidFill>
            <a:srgbClr val="1B2C5B"/>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594360" y="1353312"/>
            <a:ext cx="7955280" cy="274320"/>
          </a:xfrm>
          <a:prstGeom prst="rect">
            <a:avLst/>
          </a:prstGeom>
          <a:noFill/>
          <a:ln/>
        </p:spPr>
        <p:txBody>
          <a:bodyPr wrap="square" rtlCol="0" anchor="ctr"/>
          <a:lstStyle/>
          <a:p>
            <a:pPr algn="ctr" indent="0" marL="0">
              <a:buNone/>
            </a:pPr>
            <a:r>
              <a:rPr lang="en-US" sz="1200" spc="100" kern="0" dirty="0">
                <a:solidFill>
                  <a:srgbClr val="FFFFFF"/>
                </a:solidFill>
                <a:latin typeface="Calibri" pitchFamily="34" charset="0"/>
                <a:ea typeface="Calibri" pitchFamily="34" charset="-122"/>
                <a:cs typeface="Calibri" pitchFamily="34" charset="-120"/>
              </a:rPr>
              <a:t>[ LIVE STREAMLIT DEMO — run: streamlit run safcom_dashboard/app.py ]</a:t>
            </a:r>
            <a:endParaRPr lang="en-US" sz="1200" dirty="0"/>
          </a:p>
        </p:txBody>
      </p:sp>
      <p:sp>
        <p:nvSpPr>
          <p:cNvPr id="6" name="Shape 4"/>
          <p:cNvSpPr/>
          <p:nvPr/>
        </p:nvSpPr>
        <p:spPr>
          <a:xfrm>
            <a:off x="365760" y="1920240"/>
            <a:ext cx="4069080" cy="1188720"/>
          </a:xfrm>
          <a:prstGeom prst="roundRect">
            <a:avLst>
              <a:gd name="adj" fmla="val 6154"/>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2057400"/>
            <a:ext cx="3611880" cy="365760"/>
          </a:xfrm>
          <a:prstGeom prst="rect">
            <a:avLst/>
          </a:prstGeom>
          <a:noFill/>
          <a:ln/>
        </p:spPr>
        <p:txBody>
          <a:bodyPr wrap="square" rtlCol="0" anchor="ctr"/>
          <a:lstStyle/>
          <a:p>
            <a:pPr indent="0" marL="0">
              <a:buNone/>
            </a:pPr>
            <a:r>
              <a:rPr lang="en-US" sz="1500" b="1" dirty="0">
                <a:solidFill>
                  <a:srgbClr val="1B2C5B"/>
                </a:solidFill>
                <a:latin typeface="Cambria" pitchFamily="34" charset="0"/>
                <a:ea typeface="Cambria" pitchFamily="34" charset="-122"/>
                <a:cs typeface="Cambria" pitchFamily="34" charset="-120"/>
              </a:rPr>
              <a:t>📈  Overview</a:t>
            </a:r>
            <a:endParaRPr lang="en-US" sz="1500" dirty="0"/>
          </a:p>
        </p:txBody>
      </p:sp>
      <p:sp>
        <p:nvSpPr>
          <p:cNvPr id="8" name="Text 6"/>
          <p:cNvSpPr/>
          <p:nvPr/>
        </p:nvSpPr>
        <p:spPr>
          <a:xfrm>
            <a:off x="594360" y="2450592"/>
            <a:ext cx="3611880" cy="50292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1,260 trading days · Price &amp; returns · Vodacom event markers toggled on/off</a:t>
            </a:r>
            <a:endParaRPr lang="en-US" sz="1100" dirty="0"/>
          </a:p>
        </p:txBody>
      </p:sp>
      <p:sp>
        <p:nvSpPr>
          <p:cNvPr id="9" name="Shape 7"/>
          <p:cNvSpPr/>
          <p:nvPr/>
        </p:nvSpPr>
        <p:spPr>
          <a:xfrm>
            <a:off x="365760" y="3291840"/>
            <a:ext cx="4069080" cy="1188720"/>
          </a:xfrm>
          <a:prstGeom prst="roundRect">
            <a:avLst>
              <a:gd name="adj" fmla="val 6154"/>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3429000"/>
            <a:ext cx="3611880" cy="365760"/>
          </a:xfrm>
          <a:prstGeom prst="rect">
            <a:avLst/>
          </a:prstGeom>
          <a:noFill/>
          <a:ln/>
        </p:spPr>
        <p:txBody>
          <a:bodyPr wrap="square" rtlCol="0" anchor="ctr"/>
          <a:lstStyle/>
          <a:p>
            <a:pPr indent="0" marL="0">
              <a:buNone/>
            </a:pPr>
            <a:r>
              <a:rPr lang="en-US" sz="1500" b="1" dirty="0">
                <a:solidFill>
                  <a:srgbClr val="1A7FA5"/>
                </a:solidFill>
                <a:latin typeface="Cambria" pitchFamily="34" charset="0"/>
                <a:ea typeface="Cambria" pitchFamily="34" charset="-122"/>
                <a:cs typeface="Cambria" pitchFamily="34" charset="-120"/>
              </a:rPr>
              <a:t>🌊  Volatility</a:t>
            </a:r>
            <a:endParaRPr lang="en-US" sz="1500" dirty="0"/>
          </a:p>
        </p:txBody>
      </p:sp>
      <p:sp>
        <p:nvSpPr>
          <p:cNvPr id="11" name="Text 9"/>
          <p:cNvSpPr/>
          <p:nvPr/>
        </p:nvSpPr>
        <p:spPr>
          <a:xfrm>
            <a:off x="594360" y="3822192"/>
            <a:ext cx="3611880" cy="50292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21/63/252-day rolling vol · GARCH parameters · Persistence visualised</a:t>
            </a:r>
            <a:endParaRPr lang="en-US" sz="1100" dirty="0"/>
          </a:p>
        </p:txBody>
      </p:sp>
      <p:sp>
        <p:nvSpPr>
          <p:cNvPr id="12" name="Shape 10"/>
          <p:cNvSpPr/>
          <p:nvPr/>
        </p:nvSpPr>
        <p:spPr>
          <a:xfrm>
            <a:off x="4709160" y="1920240"/>
            <a:ext cx="4069080" cy="1188720"/>
          </a:xfrm>
          <a:prstGeom prst="roundRect">
            <a:avLst>
              <a:gd name="adj" fmla="val 6154"/>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3" name="Text 11"/>
          <p:cNvSpPr/>
          <p:nvPr/>
        </p:nvSpPr>
        <p:spPr>
          <a:xfrm>
            <a:off x="4937760" y="2057400"/>
            <a:ext cx="3611880" cy="365760"/>
          </a:xfrm>
          <a:prstGeom prst="rect">
            <a:avLst/>
          </a:prstGeom>
          <a:noFill/>
          <a:ln/>
        </p:spPr>
        <p:txBody>
          <a:bodyPr wrap="square" rtlCol="0" anchor="ctr"/>
          <a:lstStyle/>
          <a:p>
            <a:pPr indent="0" marL="0">
              <a:buNone/>
            </a:pPr>
            <a:r>
              <a:rPr lang="en-US" sz="1500" b="1" dirty="0">
                <a:solidFill>
                  <a:srgbClr val="2980B9"/>
                </a:solidFill>
                <a:latin typeface="Cambria" pitchFamily="34" charset="0"/>
                <a:ea typeface="Cambria" pitchFamily="34" charset="-122"/>
                <a:cs typeface="Cambria" pitchFamily="34" charset="-120"/>
              </a:rPr>
              <a:t>🎯  Regimes</a:t>
            </a:r>
            <a:endParaRPr lang="en-US" sz="1500" dirty="0"/>
          </a:p>
        </p:txBody>
      </p:sp>
      <p:sp>
        <p:nvSpPr>
          <p:cNvPr id="14" name="Text 12"/>
          <p:cNvSpPr/>
          <p:nvPr/>
        </p:nvSpPr>
        <p:spPr>
          <a:xfrm>
            <a:off x="4937760" y="2450592"/>
            <a:ext cx="3611880" cy="50292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GMM k=4 · Price coloured by regime · Live regime signal as of latest data</a:t>
            </a:r>
            <a:endParaRPr lang="en-US" sz="1100" dirty="0"/>
          </a:p>
        </p:txBody>
      </p:sp>
      <p:sp>
        <p:nvSpPr>
          <p:cNvPr id="15" name="Shape 13"/>
          <p:cNvSpPr/>
          <p:nvPr/>
        </p:nvSpPr>
        <p:spPr>
          <a:xfrm>
            <a:off x="4709160" y="3291840"/>
            <a:ext cx="4069080" cy="1188720"/>
          </a:xfrm>
          <a:prstGeom prst="roundRect">
            <a:avLst>
              <a:gd name="adj" fmla="val 6154"/>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6" name="Text 14"/>
          <p:cNvSpPr/>
          <p:nvPr/>
        </p:nvSpPr>
        <p:spPr>
          <a:xfrm>
            <a:off x="4937760" y="3429000"/>
            <a:ext cx="3611880" cy="365760"/>
          </a:xfrm>
          <a:prstGeom prst="rect">
            <a:avLst/>
          </a:prstGeom>
          <a:noFill/>
          <a:ln/>
        </p:spPr>
        <p:txBody>
          <a:bodyPr wrap="square" rtlCol="0" anchor="ctr"/>
          <a:lstStyle/>
          <a:p>
            <a:pPr indent="0" marL="0">
              <a:buNone/>
            </a:pPr>
            <a:r>
              <a:rPr lang="en-US" sz="1500" b="1" dirty="0">
                <a:solidFill>
                  <a:srgbClr val="E67E22"/>
                </a:solidFill>
                <a:latin typeface="Cambria" pitchFamily="34" charset="0"/>
                <a:ea typeface="Cambria" pitchFamily="34" charset="-122"/>
                <a:cs typeface="Cambria" pitchFamily="34" charset="-120"/>
              </a:rPr>
              <a:t>⚠️  Risk / VaR</a:t>
            </a:r>
            <a:endParaRPr lang="en-US" sz="1500" dirty="0"/>
          </a:p>
        </p:txBody>
      </p:sp>
      <p:sp>
        <p:nvSpPr>
          <p:cNvPr id="17" name="Text 15"/>
          <p:cNvSpPr/>
          <p:nvPr/>
        </p:nvSpPr>
        <p:spPr>
          <a:xfrm>
            <a:off x="4937760" y="3822192"/>
            <a:ext cx="3611880" cy="50292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GARCH-t conditional VaR · live Kupiec + Christoffersen (passes) · confidence slider</a:t>
            </a:r>
            <a:endParaRPr lang="en-US" sz="1100" dirty="0"/>
          </a:p>
        </p:txBody>
      </p:sp>
      <p:sp>
        <p:nvSpPr>
          <p:cNvPr id="18" name="Text 16"/>
          <p:cNvSpPr/>
          <p:nvPr/>
        </p:nvSpPr>
        <p:spPr>
          <a:xfrm>
            <a:off x="457200" y="4754880"/>
            <a:ext cx="8229600" cy="274320"/>
          </a:xfrm>
          <a:prstGeom prst="rect">
            <a:avLst/>
          </a:prstGeom>
          <a:noFill/>
          <a:ln/>
        </p:spPr>
        <p:txBody>
          <a:bodyPr wrap="square" rtlCol="0" anchor="ctr"/>
          <a:lstStyle/>
          <a:p>
            <a:pPr algn="ctr" indent="0" marL="0">
              <a:buNone/>
            </a:pPr>
            <a:r>
              <a:rPr lang="en-US" sz="900" i="1" dirty="0">
                <a:solidFill>
                  <a:srgbClr val="475569"/>
                </a:solidFill>
                <a:latin typeface="Calibri" pitchFamily="34" charset="0"/>
                <a:ea typeface="Calibri" pitchFamily="34" charset="-122"/>
                <a:cs typeface="Calibri" pitchFamily="34" charset="-120"/>
              </a:rPr>
              <a:t>Built with Python · Streamlit · Plotly · ARCH library · Scikit-learn</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137160"/>
            <a:ext cx="2743200" cy="228600"/>
          </a:xfrm>
          <a:prstGeom prst="rect">
            <a:avLst/>
          </a:prstGeom>
          <a:noFill/>
          <a:ln/>
        </p:spPr>
        <p:txBody>
          <a:bodyPr wrap="square" rtlCol="0" anchor="ctr"/>
          <a:lstStyle/>
          <a:p>
            <a:pPr indent="0" marL="0">
              <a:buNone/>
            </a:pPr>
            <a:r>
              <a:rPr lang="en-US" sz="800" spc="200" kern="0" dirty="0">
                <a:solidFill>
                  <a:srgbClr val="1A7FA5"/>
                </a:solidFill>
                <a:latin typeface="Calibri" pitchFamily="34" charset="0"/>
                <a:ea typeface="Calibri" pitchFamily="34" charset="-122"/>
                <a:cs typeface="Calibri" pitchFamily="34" charset="-120"/>
              </a:rPr>
              <a:t>ROADMAP</a:t>
            </a:r>
            <a:endParaRPr lang="en-US" sz="800" dirty="0"/>
          </a:p>
        </p:txBody>
      </p:sp>
      <p:sp>
        <p:nvSpPr>
          <p:cNvPr id="3" name="Text 1"/>
          <p:cNvSpPr/>
          <p:nvPr/>
        </p:nvSpPr>
        <p:spPr>
          <a:xfrm>
            <a:off x="457200" y="411480"/>
            <a:ext cx="8229600" cy="685800"/>
          </a:xfrm>
          <a:prstGeom prst="rect">
            <a:avLst/>
          </a:prstGeom>
          <a:noFill/>
          <a:ln/>
        </p:spPr>
        <p:txBody>
          <a:bodyPr wrap="square" lIns="0" tIns="0" rIns="0" bIns="0" rtlCol="0" anchor="ctr"/>
          <a:lstStyle/>
          <a:p>
            <a:pPr algn="l" indent="0" marL="0">
              <a:buNone/>
            </a:pPr>
            <a:r>
              <a:rPr lang="en-US" sz="3400" b="1" dirty="0">
                <a:solidFill>
                  <a:srgbClr val="1B2C5B"/>
                </a:solidFill>
                <a:latin typeface="Cambria" pitchFamily="34" charset="0"/>
                <a:ea typeface="Cambria" pitchFamily="34" charset="-122"/>
                <a:cs typeface="Cambria" pitchFamily="34" charset="-120"/>
              </a:rPr>
              <a:t>From Analysis to Production Risk Tool</a:t>
            </a:r>
            <a:endParaRPr lang="en-US" sz="3400" dirty="0"/>
          </a:p>
        </p:txBody>
      </p:sp>
      <p:sp>
        <p:nvSpPr>
          <p:cNvPr id="4" name="Shape 2"/>
          <p:cNvSpPr/>
          <p:nvPr/>
        </p:nvSpPr>
        <p:spPr>
          <a:xfrm>
            <a:off x="320040" y="1234440"/>
            <a:ext cx="2697480" cy="3108960"/>
          </a:xfrm>
          <a:prstGeom prst="roundRect">
            <a:avLst>
              <a:gd name="adj" fmla="val 2712"/>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5" name="Shape 3"/>
          <p:cNvSpPr/>
          <p:nvPr/>
        </p:nvSpPr>
        <p:spPr>
          <a:xfrm>
            <a:off x="502920" y="1417320"/>
            <a:ext cx="914400" cy="274320"/>
          </a:xfrm>
          <a:prstGeom prst="roundRect">
            <a:avLst>
              <a:gd name="adj" fmla="val 16667"/>
            </a:avLst>
          </a:prstGeom>
          <a:solidFill>
            <a:srgbClr val="27AE60"/>
          </a:solidFill>
          <a:ln w="12700">
            <a:solidFill>
              <a:srgbClr val="27AE60"/>
            </a:solidFill>
            <a:prstDash val="solid"/>
          </a:ln>
        </p:spPr>
      </p:sp>
      <p:sp>
        <p:nvSpPr>
          <p:cNvPr id="6" name="Text 4"/>
          <p:cNvSpPr/>
          <p:nvPr/>
        </p:nvSpPr>
        <p:spPr>
          <a:xfrm>
            <a:off x="502920" y="1417320"/>
            <a:ext cx="914400" cy="274320"/>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COMPLETE</a:t>
            </a:r>
            <a:endParaRPr lang="en-US" sz="800" dirty="0"/>
          </a:p>
        </p:txBody>
      </p:sp>
      <p:sp>
        <p:nvSpPr>
          <p:cNvPr id="7" name="Text 5"/>
          <p:cNvSpPr/>
          <p:nvPr/>
        </p:nvSpPr>
        <p:spPr>
          <a:xfrm>
            <a:off x="1554480" y="1417320"/>
            <a:ext cx="1280160" cy="27432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502920" y="1828800"/>
            <a:ext cx="2331720" cy="411480"/>
          </a:xfrm>
          <a:prstGeom prst="rect">
            <a:avLst/>
          </a:prstGeom>
          <a:noFill/>
          <a:ln/>
        </p:spPr>
        <p:txBody>
          <a:bodyPr wrap="square" rtlCol="0" anchor="ctr"/>
          <a:lstStyle/>
          <a:p>
            <a:pPr indent="0" marL="0">
              <a:buNone/>
            </a:pPr>
            <a:r>
              <a:rPr lang="en-US" sz="1500" b="1" dirty="0">
                <a:solidFill>
                  <a:srgbClr val="1B2C5B"/>
                </a:solidFill>
                <a:latin typeface="Cambria" pitchFamily="34" charset="0"/>
                <a:ea typeface="Cambria" pitchFamily="34" charset="-122"/>
                <a:cs typeface="Cambria" pitchFamily="34" charset="-120"/>
              </a:rPr>
              <a:t>Research &amp; Validation</a:t>
            </a:r>
            <a:endParaRPr lang="en-US" sz="1500" dirty="0"/>
          </a:p>
        </p:txBody>
      </p:sp>
      <p:sp>
        <p:nvSpPr>
          <p:cNvPr id="9" name="Text 7"/>
          <p:cNvSpPr/>
          <p:nvPr/>
        </p:nvSpPr>
        <p:spPr>
          <a:xfrm>
            <a:off x="502920" y="2331720"/>
            <a:ext cx="2331720" cy="457200"/>
          </a:xfrm>
          <a:prstGeom prst="rect">
            <a:avLst/>
          </a:prstGeom>
          <a:noFill/>
          <a:ln/>
        </p:spPr>
        <p:txBody>
          <a:bodyPr wrap="square" rtlCol="0" anchor="ctr"/>
          <a:lstStyle/>
          <a:p>
            <a:pPr indent="0" marL="0">
              <a:buNone/>
            </a:pPr>
            <a:r>
              <a:rPr lang="en-US" sz="1100" b="1" dirty="0">
                <a:solidFill>
                  <a:srgbClr val="27AE60"/>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GARCH(1,1)-t volatility model</a:t>
            </a:r>
            <a:endParaRPr lang="en-US" sz="1100" dirty="0"/>
          </a:p>
        </p:txBody>
      </p:sp>
      <p:sp>
        <p:nvSpPr>
          <p:cNvPr id="10" name="Text 8"/>
          <p:cNvSpPr/>
          <p:nvPr/>
        </p:nvSpPr>
        <p:spPr>
          <a:xfrm>
            <a:off x="502920" y="2843784"/>
            <a:ext cx="2331720" cy="457200"/>
          </a:xfrm>
          <a:prstGeom prst="rect">
            <a:avLst/>
          </a:prstGeom>
          <a:noFill/>
          <a:ln/>
        </p:spPr>
        <p:txBody>
          <a:bodyPr wrap="square" rtlCol="0" anchor="ctr"/>
          <a:lstStyle/>
          <a:p>
            <a:pPr indent="0" marL="0">
              <a:buNone/>
            </a:pPr>
            <a:r>
              <a:rPr lang="en-US" sz="1100" b="1" dirty="0">
                <a:solidFill>
                  <a:srgbClr val="27AE60"/>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GMM 4-regime detection</a:t>
            </a:r>
            <a:endParaRPr lang="en-US" sz="1100" dirty="0"/>
          </a:p>
        </p:txBody>
      </p:sp>
      <p:sp>
        <p:nvSpPr>
          <p:cNvPr id="11" name="Text 9"/>
          <p:cNvSpPr/>
          <p:nvPr/>
        </p:nvSpPr>
        <p:spPr>
          <a:xfrm>
            <a:off x="502920" y="3355848"/>
            <a:ext cx="2331720" cy="457200"/>
          </a:xfrm>
          <a:prstGeom prst="rect">
            <a:avLst/>
          </a:prstGeom>
          <a:noFill/>
          <a:ln/>
        </p:spPr>
        <p:txBody>
          <a:bodyPr wrap="square" rtlCol="0" anchor="ctr"/>
          <a:lstStyle/>
          <a:p>
            <a:pPr indent="0" marL="0">
              <a:buNone/>
            </a:pPr>
            <a:r>
              <a:rPr lang="en-US" sz="1100" b="1" dirty="0">
                <a:solidFill>
                  <a:srgbClr val="27AE60"/>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VaR backtest &amp; disclosure</a:t>
            </a:r>
            <a:endParaRPr lang="en-US" sz="1100" dirty="0"/>
          </a:p>
        </p:txBody>
      </p:sp>
      <p:sp>
        <p:nvSpPr>
          <p:cNvPr id="12" name="Text 10"/>
          <p:cNvSpPr/>
          <p:nvPr/>
        </p:nvSpPr>
        <p:spPr>
          <a:xfrm>
            <a:off x="502920" y="3867912"/>
            <a:ext cx="2331720" cy="457200"/>
          </a:xfrm>
          <a:prstGeom prst="rect">
            <a:avLst/>
          </a:prstGeom>
          <a:noFill/>
          <a:ln/>
        </p:spPr>
        <p:txBody>
          <a:bodyPr wrap="square" rtlCol="0" anchor="ctr"/>
          <a:lstStyle/>
          <a:p>
            <a:pPr indent="0" marL="0">
              <a:buNone/>
            </a:pPr>
            <a:r>
              <a:rPr lang="en-US" sz="1100" b="1" dirty="0">
                <a:solidFill>
                  <a:srgbClr val="27AE60"/>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Structural break analysis</a:t>
            </a:r>
            <a:endParaRPr lang="en-US" sz="1100" dirty="0"/>
          </a:p>
        </p:txBody>
      </p:sp>
      <p:sp>
        <p:nvSpPr>
          <p:cNvPr id="13" name="Shape 11"/>
          <p:cNvSpPr/>
          <p:nvPr/>
        </p:nvSpPr>
        <p:spPr>
          <a:xfrm>
            <a:off x="3227832" y="1234440"/>
            <a:ext cx="2697480" cy="3108960"/>
          </a:xfrm>
          <a:prstGeom prst="roundRect">
            <a:avLst>
              <a:gd name="adj" fmla="val 2712"/>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14" name="Shape 12"/>
          <p:cNvSpPr/>
          <p:nvPr/>
        </p:nvSpPr>
        <p:spPr>
          <a:xfrm>
            <a:off x="3410712" y="1417320"/>
            <a:ext cx="914400" cy="274320"/>
          </a:xfrm>
          <a:prstGeom prst="roundRect">
            <a:avLst>
              <a:gd name="adj" fmla="val 16667"/>
            </a:avLst>
          </a:prstGeom>
          <a:solidFill>
            <a:srgbClr val="E67E22"/>
          </a:solidFill>
          <a:ln w="12700">
            <a:solidFill>
              <a:srgbClr val="E67E22"/>
            </a:solidFill>
            <a:prstDash val="solid"/>
          </a:ln>
        </p:spPr>
      </p:sp>
      <p:sp>
        <p:nvSpPr>
          <p:cNvPr id="15" name="Text 13"/>
          <p:cNvSpPr/>
          <p:nvPr/>
        </p:nvSpPr>
        <p:spPr>
          <a:xfrm>
            <a:off x="3410712" y="1417320"/>
            <a:ext cx="914400" cy="274320"/>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BUILDING</a:t>
            </a:r>
            <a:endParaRPr lang="en-US" sz="800" dirty="0"/>
          </a:p>
        </p:txBody>
      </p:sp>
      <p:sp>
        <p:nvSpPr>
          <p:cNvPr id="16" name="Text 14"/>
          <p:cNvSpPr/>
          <p:nvPr/>
        </p:nvSpPr>
        <p:spPr>
          <a:xfrm>
            <a:off x="4462272" y="1417320"/>
            <a:ext cx="1280160" cy="27432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Phase 2</a:t>
            </a:r>
            <a:endParaRPr lang="en-US" sz="1000" dirty="0"/>
          </a:p>
        </p:txBody>
      </p:sp>
      <p:sp>
        <p:nvSpPr>
          <p:cNvPr id="17" name="Text 15"/>
          <p:cNvSpPr/>
          <p:nvPr/>
        </p:nvSpPr>
        <p:spPr>
          <a:xfrm>
            <a:off x="3410712" y="1828800"/>
            <a:ext cx="2331720" cy="411480"/>
          </a:xfrm>
          <a:prstGeom prst="rect">
            <a:avLst/>
          </a:prstGeom>
          <a:noFill/>
          <a:ln/>
        </p:spPr>
        <p:txBody>
          <a:bodyPr wrap="square" rtlCol="0" anchor="ctr"/>
          <a:lstStyle/>
          <a:p>
            <a:pPr indent="0" marL="0">
              <a:buNone/>
            </a:pPr>
            <a:r>
              <a:rPr lang="en-US" sz="1500" b="1" dirty="0">
                <a:solidFill>
                  <a:srgbClr val="1B2C5B"/>
                </a:solidFill>
                <a:latin typeface="Cambria" pitchFamily="34" charset="0"/>
                <a:ea typeface="Cambria" pitchFamily="34" charset="-122"/>
                <a:cs typeface="Cambria" pitchFamily="34" charset="-120"/>
              </a:rPr>
              <a:t>Interactive Dashboard</a:t>
            </a:r>
            <a:endParaRPr lang="en-US" sz="1500" dirty="0"/>
          </a:p>
        </p:txBody>
      </p:sp>
      <p:sp>
        <p:nvSpPr>
          <p:cNvPr id="18" name="Text 16"/>
          <p:cNvSpPr/>
          <p:nvPr/>
        </p:nvSpPr>
        <p:spPr>
          <a:xfrm>
            <a:off x="3410712" y="2331720"/>
            <a:ext cx="2331720" cy="457200"/>
          </a:xfrm>
          <a:prstGeom prst="rect">
            <a:avLst/>
          </a:prstGeom>
          <a:noFill/>
          <a:ln/>
        </p:spPr>
        <p:txBody>
          <a:bodyPr wrap="square" rtlCol="0" anchor="ctr"/>
          <a:lstStyle/>
          <a:p>
            <a:pPr indent="0" marL="0">
              <a:buNone/>
            </a:pPr>
            <a:r>
              <a:rPr lang="en-US" sz="1100" b="1" dirty="0">
                <a:solidFill>
                  <a:srgbClr val="E67E22"/>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Streamlit 4-tab dashboard (live today)</a:t>
            </a:r>
            <a:endParaRPr lang="en-US" sz="1100" dirty="0"/>
          </a:p>
        </p:txBody>
      </p:sp>
      <p:sp>
        <p:nvSpPr>
          <p:cNvPr id="19" name="Text 17"/>
          <p:cNvSpPr/>
          <p:nvPr/>
        </p:nvSpPr>
        <p:spPr>
          <a:xfrm>
            <a:off x="3410712" y="2843784"/>
            <a:ext cx="2331720" cy="457200"/>
          </a:xfrm>
          <a:prstGeom prst="rect">
            <a:avLst/>
          </a:prstGeom>
          <a:noFill/>
          <a:ln/>
        </p:spPr>
        <p:txBody>
          <a:bodyPr wrap="square" rtlCol="0" anchor="ctr"/>
          <a:lstStyle/>
          <a:p>
            <a:pPr indent="0" marL="0">
              <a:buNone/>
            </a:pPr>
            <a:r>
              <a:rPr lang="en-US" sz="1100" b="1" dirty="0">
                <a:solidFill>
                  <a:srgbClr val="E67E22"/>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EODHD data integration (Sep 2025–now)</a:t>
            </a:r>
            <a:endParaRPr lang="en-US" sz="1100" dirty="0"/>
          </a:p>
        </p:txBody>
      </p:sp>
      <p:sp>
        <p:nvSpPr>
          <p:cNvPr id="20" name="Text 18"/>
          <p:cNvSpPr/>
          <p:nvPr/>
        </p:nvSpPr>
        <p:spPr>
          <a:xfrm>
            <a:off x="3410712" y="3355848"/>
            <a:ext cx="2331720" cy="457200"/>
          </a:xfrm>
          <a:prstGeom prst="rect">
            <a:avLst/>
          </a:prstGeom>
          <a:noFill/>
          <a:ln/>
        </p:spPr>
        <p:txBody>
          <a:bodyPr wrap="square" rtlCol="0" anchor="ctr"/>
          <a:lstStyle/>
          <a:p>
            <a:pPr indent="0" marL="0">
              <a:buNone/>
            </a:pPr>
            <a:r>
              <a:rPr lang="en-US" sz="1100" b="1" dirty="0">
                <a:solidFill>
                  <a:srgbClr val="E67E22"/>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GJR-GARCH + EVT tail correction</a:t>
            </a:r>
            <a:endParaRPr lang="en-US" sz="1100" dirty="0"/>
          </a:p>
        </p:txBody>
      </p:sp>
      <p:sp>
        <p:nvSpPr>
          <p:cNvPr id="21" name="Text 19"/>
          <p:cNvSpPr/>
          <p:nvPr/>
        </p:nvSpPr>
        <p:spPr>
          <a:xfrm>
            <a:off x="3410712" y="3867912"/>
            <a:ext cx="2331720" cy="457200"/>
          </a:xfrm>
          <a:prstGeom prst="rect">
            <a:avLst/>
          </a:prstGeom>
          <a:noFill/>
          <a:ln/>
        </p:spPr>
        <p:txBody>
          <a:bodyPr wrap="square" rtlCol="0" anchor="ctr"/>
          <a:lstStyle/>
          <a:p>
            <a:pPr indent="0" marL="0">
              <a:buNone/>
            </a:pPr>
            <a:r>
              <a:rPr lang="en-US" sz="1100" b="1" dirty="0">
                <a:solidFill>
                  <a:srgbClr val="E67E22"/>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Regime-conditional VaR</a:t>
            </a:r>
            <a:endParaRPr lang="en-US" sz="1100" dirty="0"/>
          </a:p>
        </p:txBody>
      </p:sp>
      <p:sp>
        <p:nvSpPr>
          <p:cNvPr id="22" name="Shape 20"/>
          <p:cNvSpPr/>
          <p:nvPr/>
        </p:nvSpPr>
        <p:spPr>
          <a:xfrm>
            <a:off x="6135624" y="1234440"/>
            <a:ext cx="2697480" cy="3108960"/>
          </a:xfrm>
          <a:prstGeom prst="roundRect">
            <a:avLst>
              <a:gd name="adj" fmla="val 2712"/>
            </a:avLst>
          </a:prstGeom>
          <a:solidFill>
            <a:srgbClr val="FFFFFF"/>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23" name="Shape 21"/>
          <p:cNvSpPr/>
          <p:nvPr/>
        </p:nvSpPr>
        <p:spPr>
          <a:xfrm>
            <a:off x="6318504" y="1417320"/>
            <a:ext cx="914400" cy="274320"/>
          </a:xfrm>
          <a:prstGeom prst="roundRect">
            <a:avLst>
              <a:gd name="adj" fmla="val 16667"/>
            </a:avLst>
          </a:prstGeom>
          <a:solidFill>
            <a:srgbClr val="2980B9"/>
          </a:solidFill>
          <a:ln w="12700">
            <a:solidFill>
              <a:srgbClr val="2980B9"/>
            </a:solidFill>
            <a:prstDash val="solid"/>
          </a:ln>
        </p:spPr>
      </p:sp>
      <p:sp>
        <p:nvSpPr>
          <p:cNvPr id="24" name="Text 22"/>
          <p:cNvSpPr/>
          <p:nvPr/>
        </p:nvSpPr>
        <p:spPr>
          <a:xfrm>
            <a:off x="6318504" y="1417320"/>
            <a:ext cx="914400" cy="274320"/>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PLANNED</a:t>
            </a:r>
            <a:endParaRPr lang="en-US" sz="800" dirty="0"/>
          </a:p>
        </p:txBody>
      </p:sp>
      <p:sp>
        <p:nvSpPr>
          <p:cNvPr id="25" name="Text 23"/>
          <p:cNvSpPr/>
          <p:nvPr/>
        </p:nvSpPr>
        <p:spPr>
          <a:xfrm>
            <a:off x="7370064" y="1417320"/>
            <a:ext cx="1280160" cy="27432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Phase 3</a:t>
            </a:r>
            <a:endParaRPr lang="en-US" sz="1000" dirty="0"/>
          </a:p>
        </p:txBody>
      </p:sp>
      <p:sp>
        <p:nvSpPr>
          <p:cNvPr id="26" name="Text 24"/>
          <p:cNvSpPr/>
          <p:nvPr/>
        </p:nvSpPr>
        <p:spPr>
          <a:xfrm>
            <a:off x="6318504" y="1828800"/>
            <a:ext cx="2331720" cy="411480"/>
          </a:xfrm>
          <a:prstGeom prst="rect">
            <a:avLst/>
          </a:prstGeom>
          <a:noFill/>
          <a:ln/>
        </p:spPr>
        <p:txBody>
          <a:bodyPr wrap="square" rtlCol="0" anchor="ctr"/>
          <a:lstStyle/>
          <a:p>
            <a:pPr indent="0" marL="0">
              <a:buNone/>
            </a:pPr>
            <a:r>
              <a:rPr lang="en-US" sz="1500" b="1" dirty="0">
                <a:solidFill>
                  <a:srgbClr val="1B2C5B"/>
                </a:solidFill>
                <a:latin typeface="Cambria" pitchFamily="34" charset="0"/>
                <a:ea typeface="Cambria" pitchFamily="34" charset="-122"/>
                <a:cs typeface="Cambria" pitchFamily="34" charset="-120"/>
              </a:rPr>
              <a:t>Real-Time Risk Tool</a:t>
            </a:r>
            <a:endParaRPr lang="en-US" sz="1500" dirty="0"/>
          </a:p>
        </p:txBody>
      </p:sp>
      <p:sp>
        <p:nvSpPr>
          <p:cNvPr id="27" name="Text 25"/>
          <p:cNvSpPr/>
          <p:nvPr/>
        </p:nvSpPr>
        <p:spPr>
          <a:xfrm>
            <a:off x="6318504" y="2331720"/>
            <a:ext cx="2331720" cy="457200"/>
          </a:xfrm>
          <a:prstGeom prst="rect">
            <a:avLst/>
          </a:prstGeom>
          <a:noFill/>
          <a:ln/>
        </p:spPr>
        <p:txBody>
          <a:bodyPr wrap="square" rtlCol="0" anchor="ctr"/>
          <a:lstStyle/>
          <a:p>
            <a:pPr indent="0" marL="0">
              <a:buNone/>
            </a:pPr>
            <a:r>
              <a:rPr lang="en-US" sz="1100" b="1" dirty="0">
                <a:solidFill>
                  <a:srgbClr val="2980B9"/>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Live NSE data feed (EODHD API)</a:t>
            </a:r>
            <a:endParaRPr lang="en-US" sz="1100" dirty="0"/>
          </a:p>
        </p:txBody>
      </p:sp>
      <p:sp>
        <p:nvSpPr>
          <p:cNvPr id="28" name="Text 26"/>
          <p:cNvSpPr/>
          <p:nvPr/>
        </p:nvSpPr>
        <p:spPr>
          <a:xfrm>
            <a:off x="6318504" y="2843784"/>
            <a:ext cx="2331720" cy="457200"/>
          </a:xfrm>
          <a:prstGeom prst="rect">
            <a:avLst/>
          </a:prstGeom>
          <a:noFill/>
          <a:ln/>
        </p:spPr>
        <p:txBody>
          <a:bodyPr wrap="square" rtlCol="0" anchor="ctr"/>
          <a:lstStyle/>
          <a:p>
            <a:pPr indent="0" marL="0">
              <a:buNone/>
            </a:pPr>
            <a:r>
              <a:rPr lang="en-US" sz="1100" b="1" dirty="0">
                <a:solidFill>
                  <a:srgbClr val="2980B9"/>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Rolling GARCH re-estimation (daily)</a:t>
            </a:r>
            <a:endParaRPr lang="en-US" sz="1100" dirty="0"/>
          </a:p>
        </p:txBody>
      </p:sp>
      <p:sp>
        <p:nvSpPr>
          <p:cNvPr id="29" name="Text 27"/>
          <p:cNvSpPr/>
          <p:nvPr/>
        </p:nvSpPr>
        <p:spPr>
          <a:xfrm>
            <a:off x="6318504" y="3355848"/>
            <a:ext cx="2331720" cy="457200"/>
          </a:xfrm>
          <a:prstGeom prst="rect">
            <a:avLst/>
          </a:prstGeom>
          <a:noFill/>
          <a:ln/>
        </p:spPr>
        <p:txBody>
          <a:bodyPr wrap="square" rtlCol="0" anchor="ctr"/>
          <a:lstStyle/>
          <a:p>
            <a:pPr indent="0" marL="0">
              <a:buNone/>
            </a:pPr>
            <a:r>
              <a:rPr lang="en-US" sz="1100" b="1" dirty="0">
                <a:solidFill>
                  <a:srgbClr val="2980B9"/>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Mobile-accessible interface</a:t>
            </a:r>
            <a:endParaRPr lang="en-US" sz="1100" dirty="0"/>
          </a:p>
        </p:txBody>
      </p:sp>
      <p:sp>
        <p:nvSpPr>
          <p:cNvPr id="30" name="Text 28"/>
          <p:cNvSpPr/>
          <p:nvPr/>
        </p:nvSpPr>
        <p:spPr>
          <a:xfrm>
            <a:off x="6318504" y="3867912"/>
            <a:ext cx="2331720" cy="457200"/>
          </a:xfrm>
          <a:prstGeom prst="rect">
            <a:avLst/>
          </a:prstGeom>
          <a:noFill/>
          <a:ln/>
        </p:spPr>
        <p:txBody>
          <a:bodyPr wrap="square" rtlCol="0" anchor="ctr"/>
          <a:lstStyle/>
          <a:p>
            <a:pPr indent="0" marL="0">
              <a:buNone/>
            </a:pPr>
            <a:r>
              <a:rPr lang="en-US" sz="1100" b="1" dirty="0">
                <a:solidFill>
                  <a:srgbClr val="2980B9"/>
                </a:solidFill>
                <a:latin typeface="Calibri" pitchFamily="34" charset="0"/>
                <a:ea typeface="Calibri" pitchFamily="34" charset="-122"/>
                <a:cs typeface="Calibri" pitchFamily="34" charset="-120"/>
              </a:rPr>
              <a:t>✓  </a:t>
            </a:r>
            <a:pPr indent="0" marL="0">
              <a:buNone/>
            </a:pPr>
            <a:r>
              <a:rPr lang="en-US" sz="1100" dirty="0">
                <a:solidFill>
                  <a:srgbClr val="1A1A2E"/>
                </a:solidFill>
                <a:latin typeface="Calibri" pitchFamily="34" charset="0"/>
                <a:ea typeface="Calibri" pitchFamily="34" charset="-122"/>
                <a:cs typeface="Calibri" pitchFamily="34" charset="-120"/>
              </a:rPr>
              <a:t>Regime-change push alerts</a:t>
            </a:r>
            <a:endParaRPr lang="en-US" sz="1100" dirty="0"/>
          </a:p>
        </p:txBody>
      </p:sp>
      <p:sp>
        <p:nvSpPr>
          <p:cNvPr id="31" name="Shape 29"/>
          <p:cNvSpPr/>
          <p:nvPr/>
        </p:nvSpPr>
        <p:spPr>
          <a:xfrm>
            <a:off x="365760" y="4480560"/>
            <a:ext cx="8412480" cy="457200"/>
          </a:xfrm>
          <a:prstGeom prst="roundRect">
            <a:avLst>
              <a:gd name="adj" fmla="val 16000"/>
            </a:avLst>
          </a:prstGeom>
          <a:solidFill>
            <a:srgbClr val="E8F4F8"/>
          </a:solidFill>
          <a:ln w="6350">
            <a:solidFill>
              <a:srgbClr val="E2E8F0"/>
            </a:solidFill>
            <a:prstDash val="solid"/>
          </a:ln>
          <a:effectLst>
            <a:outerShdw sx="100000" sy="100000" kx="0" ky="0" algn="bl" rotWithShape="0" blurRad="101600" dist="38100" dir="2700000">
              <a:srgbClr val="000000">
                <a:alpha val="12000"/>
              </a:srgbClr>
            </a:outerShdw>
          </a:effectLst>
        </p:spPr>
      </p:sp>
      <p:sp>
        <p:nvSpPr>
          <p:cNvPr id="32" name="Text 30"/>
          <p:cNvSpPr/>
          <p:nvPr/>
        </p:nvSpPr>
        <p:spPr>
          <a:xfrm>
            <a:off x="594360" y="4581144"/>
            <a:ext cx="7955280" cy="256032"/>
          </a:xfrm>
          <a:prstGeom prst="rect">
            <a:avLst/>
          </a:prstGeom>
          <a:noFill/>
          <a:ln/>
        </p:spPr>
        <p:txBody>
          <a:bodyPr wrap="square" rtlCol="0" anchor="ctr"/>
          <a:lstStyle/>
          <a:p>
            <a:pPr algn="ctr" indent="0" marL="0">
              <a:buNone/>
            </a:pPr>
            <a:r>
              <a:rPr lang="en-US" sz="1100" b="1" dirty="0">
                <a:solidFill>
                  <a:srgbClr val="1A7FA5"/>
                </a:solidFill>
                <a:latin typeface="Calibri" pitchFamily="34" charset="0"/>
                <a:ea typeface="Calibri" pitchFamily="34" charset="-122"/>
                <a:cs typeface="Calibri" pitchFamily="34" charset="-120"/>
              </a:rPr>
              <a:t>Thesis: A regime-aware risk tool will materially improve capital allocation decisions on NSE-listed equities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C5B"/>
        </a:solidFill>
      </p:bgPr>
    </p:bg>
    <p:spTree>
      <p:nvGrpSpPr>
        <p:cNvPr id="1" name=""/>
        <p:cNvGrpSpPr/>
        <p:nvPr/>
      </p:nvGrpSpPr>
      <p:grpSpPr>
        <a:xfrm>
          <a:off x="0" y="0"/>
          <a:ext cx="0" cy="0"/>
          <a:chOff x="0" y="0"/>
          <a:chExt cx="0" cy="0"/>
        </a:xfrm>
      </p:grpSpPr>
      <p:sp>
        <p:nvSpPr>
          <p:cNvPr id="2" name="Shape 0"/>
          <p:cNvSpPr/>
          <p:nvPr/>
        </p:nvSpPr>
        <p:spPr>
          <a:xfrm>
            <a:off x="6858000" y="3200400"/>
            <a:ext cx="3200400" cy="3200400"/>
          </a:xfrm>
          <a:prstGeom prst="ellipse">
            <a:avLst/>
          </a:prstGeom>
          <a:solidFill>
            <a:srgbClr val="2A4080">
              <a:alpha val="60000"/>
            </a:srgbClr>
          </a:solidFill>
          <a:ln w="12700">
            <a:solidFill>
              <a:srgbClr val="2A4080"/>
            </a:solidFill>
            <a:prstDash val="solid"/>
          </a:ln>
        </p:spPr>
      </p:sp>
      <p:sp>
        <p:nvSpPr>
          <p:cNvPr id="3" name="Shape 1"/>
          <p:cNvSpPr/>
          <p:nvPr/>
        </p:nvSpPr>
        <p:spPr>
          <a:xfrm>
            <a:off x="-731520" y="-731520"/>
            <a:ext cx="2560320" cy="2560320"/>
          </a:xfrm>
          <a:prstGeom prst="ellipse">
            <a:avLst/>
          </a:prstGeom>
          <a:solidFill>
            <a:srgbClr val="1A7FA5">
              <a:alpha val="45000"/>
            </a:srgbClr>
          </a:solidFill>
          <a:ln w="12700">
            <a:solidFill>
              <a:srgbClr val="1A7FA5"/>
            </a:solidFill>
            <a:prstDash val="solid"/>
          </a:ln>
        </p:spPr>
      </p:sp>
      <p:sp>
        <p:nvSpPr>
          <p:cNvPr id="4" name="Text 2"/>
          <p:cNvSpPr/>
          <p:nvPr/>
        </p:nvSpPr>
        <p:spPr>
          <a:xfrm>
            <a:off x="594360" y="731520"/>
            <a:ext cx="7955280" cy="320040"/>
          </a:xfrm>
          <a:prstGeom prst="rect">
            <a:avLst/>
          </a:prstGeom>
          <a:noFill/>
          <a:ln/>
        </p:spPr>
        <p:txBody>
          <a:bodyPr wrap="square" rtlCol="0" anchor="ctr"/>
          <a:lstStyle/>
          <a:p>
            <a:pPr indent="0" marL="0">
              <a:buNone/>
            </a:pPr>
            <a:r>
              <a:rPr lang="en-US" sz="900" spc="400" kern="0" dirty="0">
                <a:solidFill>
                  <a:srgbClr val="CADCFC"/>
                </a:solidFill>
                <a:latin typeface="Calibri" pitchFamily="34" charset="0"/>
                <a:ea typeface="Calibri" pitchFamily="34" charset="-122"/>
                <a:cs typeface="Calibri" pitchFamily="34" charset="-120"/>
              </a:rPr>
              <a:t>THANK YOU</a:t>
            </a:r>
            <a:endParaRPr lang="en-US" sz="900" dirty="0"/>
          </a:p>
        </p:txBody>
      </p:sp>
      <p:sp>
        <p:nvSpPr>
          <p:cNvPr id="5" name="Text 3"/>
          <p:cNvSpPr/>
          <p:nvPr/>
        </p:nvSpPr>
        <p:spPr>
          <a:xfrm>
            <a:off x="594360" y="1097280"/>
            <a:ext cx="7772400" cy="1097280"/>
          </a:xfrm>
          <a:prstGeom prst="rect">
            <a:avLst/>
          </a:prstGeom>
          <a:noFill/>
          <a:ln/>
        </p:spPr>
        <p:txBody>
          <a:bodyPr wrap="square"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Questions?</a:t>
            </a:r>
            <a:endParaRPr lang="en-US" sz="6400" dirty="0"/>
          </a:p>
        </p:txBody>
      </p:sp>
      <p:sp>
        <p:nvSpPr>
          <p:cNvPr id="6" name="Shape 4"/>
          <p:cNvSpPr/>
          <p:nvPr/>
        </p:nvSpPr>
        <p:spPr>
          <a:xfrm>
            <a:off x="594360" y="2286000"/>
            <a:ext cx="1828800" cy="45720"/>
          </a:xfrm>
          <a:prstGeom prst="rect">
            <a:avLst/>
          </a:prstGeom>
          <a:solidFill>
            <a:srgbClr val="1A7FA5"/>
          </a:solidFill>
          <a:ln w="12700">
            <a:solidFill>
              <a:srgbClr val="1A7FA5"/>
            </a:solidFill>
            <a:prstDash val="solid"/>
          </a:ln>
        </p:spPr>
      </p:sp>
      <p:sp>
        <p:nvSpPr>
          <p:cNvPr id="7" name="Text 5"/>
          <p:cNvSpPr/>
          <p:nvPr/>
        </p:nvSpPr>
        <p:spPr>
          <a:xfrm>
            <a:off x="594360" y="2514600"/>
            <a:ext cx="7315200" cy="384048"/>
          </a:xfrm>
          <a:prstGeom prst="rect">
            <a:avLst/>
          </a:prstGeom>
          <a:noFill/>
          <a:ln/>
        </p:spPr>
        <p:txBody>
          <a:bodyPr wrap="square" rtlCol="0" anchor="ctr"/>
          <a:lstStyle/>
          <a:p>
            <a:pPr indent="0" marL="0">
              <a:buNone/>
            </a:pPr>
            <a:r>
              <a:rPr lang="en-US" sz="1300" b="1" dirty="0">
                <a:solidFill>
                  <a:srgbClr val="1A7FA5"/>
                </a:solidFill>
                <a:latin typeface="Calibri" pitchFamily="34" charset="0"/>
                <a:ea typeface="Calibri" pitchFamily="34" charset="-122"/>
                <a:cs typeface="Calibri" pitchFamily="34" charset="-120"/>
              </a:rPr>
              <a:t xml:space="preserve">— </a:t>
            </a:r>
            <a:pPr indent="0" marL="0">
              <a:buNone/>
            </a:pPr>
            <a:r>
              <a:rPr lang="en-US" sz="1300" dirty="0">
                <a:solidFill>
                  <a:srgbClr val="CADCFC"/>
                </a:solidFill>
                <a:latin typeface="Calibri" pitchFamily="34" charset="0"/>
                <a:ea typeface="Calibri" pitchFamily="34" charset="-122"/>
                <a:cs typeface="Calibri" pitchFamily="34" charset="-120"/>
              </a:rPr>
              <a:t>Volatility has structure — and that structure is measurable</a:t>
            </a:r>
            <a:endParaRPr lang="en-US" sz="1300" dirty="0"/>
          </a:p>
        </p:txBody>
      </p:sp>
      <p:sp>
        <p:nvSpPr>
          <p:cNvPr id="8" name="Text 6"/>
          <p:cNvSpPr/>
          <p:nvPr/>
        </p:nvSpPr>
        <p:spPr>
          <a:xfrm>
            <a:off x="594360" y="2953512"/>
            <a:ext cx="7315200" cy="384048"/>
          </a:xfrm>
          <a:prstGeom prst="rect">
            <a:avLst/>
          </a:prstGeom>
          <a:noFill/>
          <a:ln/>
        </p:spPr>
        <p:txBody>
          <a:bodyPr wrap="square" rtlCol="0" anchor="ctr"/>
          <a:lstStyle/>
          <a:p>
            <a:pPr indent="0" marL="0">
              <a:buNone/>
            </a:pPr>
            <a:r>
              <a:rPr lang="en-US" sz="1300" b="1" dirty="0">
                <a:solidFill>
                  <a:srgbClr val="1A7FA5"/>
                </a:solidFill>
                <a:latin typeface="Calibri" pitchFamily="34" charset="0"/>
                <a:ea typeface="Calibri" pitchFamily="34" charset="-122"/>
                <a:cs typeface="Calibri" pitchFamily="34" charset="-120"/>
              </a:rPr>
              <a:t xml:space="preserve">— </a:t>
            </a:r>
            <a:pPr indent="0" marL="0">
              <a:buNone/>
            </a:pPr>
            <a:r>
              <a:rPr lang="en-US" sz="1300" dirty="0">
                <a:solidFill>
                  <a:srgbClr val="CADCFC"/>
                </a:solidFill>
                <a:latin typeface="Calibri" pitchFamily="34" charset="0"/>
                <a:ea typeface="Calibri" pitchFamily="34" charset="-122"/>
                <a:cs typeface="Calibri" pitchFamily="34" charset="-120"/>
              </a:rPr>
              <a:t>4 GMM regimes capture the full spectrum of SAFCOM market behaviour</a:t>
            </a:r>
            <a:endParaRPr lang="en-US" sz="1300" dirty="0"/>
          </a:p>
        </p:txBody>
      </p:sp>
      <p:sp>
        <p:nvSpPr>
          <p:cNvPr id="9" name="Text 7"/>
          <p:cNvSpPr/>
          <p:nvPr/>
        </p:nvSpPr>
        <p:spPr>
          <a:xfrm>
            <a:off x="594360" y="3392424"/>
            <a:ext cx="7315200" cy="384048"/>
          </a:xfrm>
          <a:prstGeom prst="rect">
            <a:avLst/>
          </a:prstGeom>
          <a:noFill/>
          <a:ln/>
        </p:spPr>
        <p:txBody>
          <a:bodyPr wrap="square" rtlCol="0" anchor="ctr"/>
          <a:lstStyle/>
          <a:p>
            <a:pPr indent="0" marL="0">
              <a:buNone/>
            </a:pPr>
            <a:r>
              <a:rPr lang="en-US" sz="1300" b="1" dirty="0">
                <a:solidFill>
                  <a:srgbClr val="1A7FA5"/>
                </a:solidFill>
                <a:latin typeface="Calibri" pitchFamily="34" charset="0"/>
                <a:ea typeface="Calibri" pitchFamily="34" charset="-122"/>
                <a:cs typeface="Calibri" pitchFamily="34" charset="-120"/>
              </a:rPr>
              <a:t xml:space="preserve">— </a:t>
            </a:r>
            <a:pPr indent="0" marL="0">
              <a:buNone/>
            </a:pPr>
            <a:r>
              <a:rPr lang="en-US" sz="1300" dirty="0">
                <a:solidFill>
                  <a:srgbClr val="CADCFC"/>
                </a:solidFill>
                <a:latin typeface="Calibri" pitchFamily="34" charset="0"/>
                <a:ea typeface="Calibri" pitchFamily="34" charset="-122"/>
                <a:cs typeface="Calibri" pitchFamily="34" charset="-120"/>
              </a:rPr>
              <a:t>The Vodacom acquisition is a validated out-of-sample structural break</a:t>
            </a:r>
            <a:endParaRPr lang="en-US" sz="1300" dirty="0"/>
          </a:p>
        </p:txBody>
      </p:sp>
      <p:sp>
        <p:nvSpPr>
          <p:cNvPr id="10" name="Text 8"/>
          <p:cNvSpPr/>
          <p:nvPr/>
        </p:nvSpPr>
        <p:spPr>
          <a:xfrm>
            <a:off x="594360" y="3831336"/>
            <a:ext cx="7315200" cy="384048"/>
          </a:xfrm>
          <a:prstGeom prst="rect">
            <a:avLst/>
          </a:prstGeom>
          <a:noFill/>
          <a:ln/>
        </p:spPr>
        <p:txBody>
          <a:bodyPr wrap="square" rtlCol="0" anchor="ctr"/>
          <a:lstStyle/>
          <a:p>
            <a:pPr indent="0" marL="0">
              <a:buNone/>
            </a:pPr>
            <a:r>
              <a:rPr lang="en-US" sz="1300" b="1" dirty="0">
                <a:solidFill>
                  <a:srgbClr val="1A7FA5"/>
                </a:solidFill>
                <a:latin typeface="Calibri" pitchFamily="34" charset="0"/>
                <a:ea typeface="Calibri" pitchFamily="34" charset="-122"/>
                <a:cs typeface="Calibri" pitchFamily="34" charset="-120"/>
              </a:rPr>
              <a:t xml:space="preserve">— </a:t>
            </a:r>
            <a:pPr indent="0" marL="0">
              <a:buNone/>
            </a:pPr>
            <a:r>
              <a:rPr lang="en-US" sz="1300" dirty="0">
                <a:solidFill>
                  <a:srgbClr val="CADCFC"/>
                </a:solidFill>
                <a:latin typeface="Calibri" pitchFamily="34" charset="0"/>
                <a:ea typeface="Calibri" pitchFamily="34" charset="-122"/>
                <a:cs typeface="Calibri" pitchFamily="34" charset="-120"/>
              </a:rPr>
              <a:t>Conditional VaR is validated; GJR-GARCH/EVT will sharpen it for production</a:t>
            </a:r>
            <a:endParaRPr lang="en-US" sz="1300" dirty="0"/>
          </a:p>
        </p:txBody>
      </p:sp>
      <p:sp>
        <p:nvSpPr>
          <p:cNvPr id="11" name="Text 9"/>
          <p:cNvSpPr/>
          <p:nvPr/>
        </p:nvSpPr>
        <p:spPr>
          <a:xfrm>
            <a:off x="594360" y="4663440"/>
            <a:ext cx="7772400" cy="32004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David Mutugi Kirianja  ·  NSE Equity Risk Analysis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Markets Speak in Regimes: Lessons from Safaricom Equity Behaviour</dc:title>
  <dc:subject>PptxGenJS Presentation</dc:subject>
  <dc:creator>David Mutugi Kirianja</dc:creator>
  <cp:lastModifiedBy>David Mutugi Kirianja</cp:lastModifiedBy>
  <cp:revision>1</cp:revision>
  <dcterms:created xsi:type="dcterms:W3CDTF">2026-07-02T19:23:34Z</dcterms:created>
  <dcterms:modified xsi:type="dcterms:W3CDTF">2026-07-02T19:23:34Z</dcterms:modified>
</cp:coreProperties>
</file>