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(Indicative)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Vol
(Regime 0)</c:v>
                  </c:pt>
                  <c:pt idx="1">
                    <c:v>Moderate
(Regime 1)</c:v>
                  </c:pt>
                  <c:pt idx="2">
                    <c:v>High Vol
(Regime 2)</c:v>
                  </c:pt>
                  <c:pt idx="3">
                    <c:v>Extreme
(Regime 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</c:v>
                </c:pt>
                <c:pt idx="1">
                  <c:v>0.28</c:v>
                </c:pt>
                <c:pt idx="2">
                  <c:v>0.45</c:v>
                </c:pt>
                <c:pt idx="3">
                  <c:v>0.72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2A4080">
              <a:alpha val="60000"/>
            </a:srgbClr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182880"/>
            <a:ext cx="1828800" cy="1828800"/>
          </a:xfrm>
          <a:prstGeom prst="ellipse">
            <a:avLst/>
          </a:prstGeom>
          <a:solidFill>
            <a:srgbClr val="1A7FA5">
              <a:alpha val="45000"/>
            </a:srgbClr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749040"/>
            <a:ext cx="2560320" cy="2560320"/>
          </a:xfrm>
          <a:prstGeom prst="ellipse">
            <a:avLst/>
          </a:prstGeom>
          <a:solidFill>
            <a:srgbClr val="1A7FA5">
              <a:alpha val="35000"/>
            </a:srgbClr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31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 ·  SAFARICOM EQUITY RISK ANALYSIS  ·  JULY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 Speak</a:t>
            </a:r>
            <a:endParaRPr lang="en-US" sz="5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Regimes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Safaricom's Equity Behaviour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1828800" cy="45720"/>
          </a:xfrm>
          <a:prstGeom prst="rect">
            <a:avLst/>
          </a:prstGeom>
          <a:solidFill>
            <a:srgbClr val="1A7FA5"/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9136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Mutugi Kirianja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Risk, Not Price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Insight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direction is largely unpredictable.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not.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clusters: high-vol periods follow high-vol periods. This is not noise — it is structure. And structure can be modelled.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answer: which regime is SCOM in right now — and what does that imply for risk exposure?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1887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57800" y="1280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5780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Analysed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395728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57800" y="24871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257800" y="2990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Volatility Regimes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4920" y="3602736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36941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α+β=0.90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257800" y="4197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Persistence (GARCH)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Rigorous Analytical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36192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1B2C5B"/>
          </a:solidFill>
          <a:ln w="12700">
            <a:solidFill>
              <a:srgbClr val="1B2C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volume, return distributions. Non-normality tests.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9968" y="1234440"/>
            <a:ext cx="1536192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417320"/>
            <a:ext cx="438912" cy="438912"/>
          </a:xfrm>
          <a:prstGeom prst="ellipse">
            <a:avLst/>
          </a:prstGeom>
          <a:solidFill>
            <a:srgbClr val="1A7FA5"/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21408" y="1993392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Decomposition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274320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ADF, KPSS, Phillips-Perron. STL decomposition (period=252).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9896" y="1234440"/>
            <a:ext cx="1536192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88536" y="1417320"/>
            <a:ext cx="438912" cy="43891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31336" y="1993392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GARCH(1,1)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274320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 errors. 2,500 obs. AIC-optimal. ARCH LM test.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9824" y="1234440"/>
            <a:ext cx="1536192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98464" y="1417320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41264" y="1993392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41264" y="274320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k=4 (BIC-optimal). Ruptures PELT structural breaks.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9752" y="1234440"/>
            <a:ext cx="1536192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08392" y="1417320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8392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51192" y="1993392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1192" y="2743200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Kupiec proportion-of-failures test at 95% confidence.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SAFCOM NSE · 2020–2025 (XLSX base) + afrimarket validation | Extended to Jun 2026 via EODHD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EQUITY BEHAVIOUR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Are Fat-Tailed &amp; Non-Normal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Full-period skewness: +0.32 (right-skewed — large upside shocks more frequent than normal dist. predicts)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kurtosis: heavy tails confirmed. Jarque-Bera rejects normality.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LM test p-value: 1.2×10⁻²² — volatility clustering is highly significant.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ADF, KPSS: returns are stationary. Prices are I(1) — as expected.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069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Volume-return correlation: regime-dependent (analysed via rolling 63-day window).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86200" cy="1600200"/>
          </a:xfrm>
          <a:prstGeom prst="roundRect">
            <a:avLst>
              <a:gd name="adj" fmla="val 4571"/>
            </a:avLst>
          </a:prstGeom>
          <a:solidFill>
            <a:srgbClr val="1B2C5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371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Recovery: Oct 2024 → Jun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15 low → KES 28.75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971800"/>
            <a:ext cx="3886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127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493008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SAFCOM exhibits classic ARCH effects: calm periods follow calm periods, volatile periods cluster together. This is the foundation for regime modelling.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GARCH(1,1): Volatility Has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GARCH(1,1) · Zero-Mean · Student-t Errors · N = 2,500 trading days · AIC = −13,996.8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1762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(omega)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3.01×10⁻⁵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variance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vol floor)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05740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1762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487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3090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term: sensitivity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recent shocks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05740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1762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(beta)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487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3090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term: volatility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05740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1762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(nu)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487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3090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 dof: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tails confirmed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B2C5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22452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α + β = 0.90 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volatility shock today still influences the market 10+ days later. This is what makes timing risk manageable — vol doesn't vanish overnight.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Distinct Market Regimes (GMM, k=4)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BIC-optimal 4-component Gaussian Mixture Model on [log_return, |log_return|]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E9F7E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7276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Volatility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82880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 |  Accumulation / Drift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7627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market. Low absolute returns. Accumulation or slow drift. Optimal for building positions.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3447288"/>
            <a:ext cx="347472" cy="34747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410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Volatility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370332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 |  Trending / Active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05079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momentum. Returns are larger but not extreme. Trends are sustainable.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EF9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0328" y="157276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Volatility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7528" y="182880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  |  Stress / Uncertainty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0328" y="217627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uncertainty. Whipsaw price action. Reduce exposure or hedge positions.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DEDE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344728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3410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Volatility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370332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 |  Crisis / Panic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405079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 crisis. Large absolute moves. Historical: COVID sell-off, governance events.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Regimes as Early Warning Signals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663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123444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3898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Timing, Not Prediction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7373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assignment today predicts the distribution of tomorrow's vol — not direction, but RISK.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57800" y="246888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26243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Persistence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α+β=0.90, regimes are sticky. Entering Regime 3 means elevated risk for days or weeks — not hours.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57800" y="370332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8587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Sizing Rule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4206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Risk-budget usage: Regime 0 → full exposure · Regime 1 → 75% · Regime 2 → 50% · Regime 3 → 25%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levels are indicative from GMM-fitted model on SAFCOM data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· HONEST DISCLOSURE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Backtest: Validated on Two Tests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3502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Two-Test Backtest at 95% Confidence: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GARCH-t VaR passes Kupiec (5.9%, p=0.16) and Christoffersen independence (p=0.86)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Tests Show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Kupiec: 5.9% violation rate ≈ 5% target (p = 0.16)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Christoffersen: violations independent, not clustered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analysis on two independent tests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Caveat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Kupiec tests violation COUNT only — not whether they cluster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2186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 with ν≈5 helps but EVT fits the extreme tail better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767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Regime-specific tail behaviour needs regime-conditional modelling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743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2494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(Phase 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670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GJR-GARCH: captures asymmetric vol (leverage effect)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2186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 tail correction: Generalized Pareto on worst 5% of losses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67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Regime-conditional VaR per each GMM regime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5720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disclosure: we validate on coverage AND independence. Count-only backtests would rubber-stamp a weaker model — ours passes both.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Vodacom Acquires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Safaricom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65760" y="28803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4080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99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28803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4080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999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33472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Vodacom's Stake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28803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4080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999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9744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SCOM Price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 → Jun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28803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4080">
              <a:alpha val="7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6016" y="299923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30, 2026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86016" y="3703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Closed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(Yesterday)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617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regime shift our model was built to detect.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Vodacom Event: A Textbook Regime Shift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54864" cy="3474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335024"/>
            <a:ext cx="420624" cy="42062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SCOM hits KES 15 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vol regime (Regime 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2048256"/>
            <a:ext cx="420624" cy="42062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39112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4,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Vodacom deal announced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313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break: Zivot-Andrews detectable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2761488"/>
            <a:ext cx="420624" cy="420624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52344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Dec–Jun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2752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rallies to KES 28.75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30266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→ Low vol transition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3474720"/>
            <a:ext cx="420624" cy="420624"/>
          </a:xfrm>
          <a:prstGeom prst="ellipse">
            <a:avLst/>
          </a:prstGeom>
          <a:solidFill>
            <a:srgbClr val="1A7FA5"/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65576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30,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3465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closes: Vodacom 55%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37360" y="37398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structural regime begins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8720" y="4187952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78808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4178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Post-takeover era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44531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regime re-calibration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123444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19019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change = governance change = new risk profile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regime parameters may not apply in the post-takeover era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30358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OUT-OF-SAMPLE structural break — validation of theory, not overfitting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36027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model should be re-estimated on post-Jun 2026 data as it accumulates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41696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Kenyan-majority to Vodacom-majority changes strategic risk factors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Streamlit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B2C5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533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STREAMLIT DEMO — run: streamlit run safcom_dashboard/app.py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57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1,260 trading days · Price &amp; returns · Vodacom event markers toggled on/off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🌊  Volatility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8221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21/63/252-day rolling vol · GARCH parameters · Persistence visualised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057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Regimes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k=4 · Price coloured by regime · Live regime signal as of latest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2918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429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Risk / VaR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8221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GARCH-t conditional VaR · live Kupiec + Christoffersen (passes) · confidence slider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Plotly · ARCH library ·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Production Risk Tool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Validation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GARCH(1,1)-t volatility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437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4-regime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backtest &amp; disclosure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67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0712" y="1417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1828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10712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4-tab dashboard (live today)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0712" y="28437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EODHD data integration (Sep 2025–now)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10712" y="3355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GJR-GARCH + EVT tail correction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3867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Regime-conditional VaR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18504" y="1417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70064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1828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Risk Tool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18504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data feed (EODHD API)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28437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GARCH re-estimation (daily)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3355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Mobile-accessible interface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8504" y="3867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Regime-change push alerts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58114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A regime-aware risk tool will materially improve capital allocation decisions on NSE-listed equities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A4080">
              <a:alpha val="60000"/>
            </a:srgbClr>
          </a:solidFill>
          <a:ln w="12700">
            <a:solidFill>
              <a:srgbClr val="2A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1A7FA5">
              <a:alpha val="45000"/>
            </a:srgbClr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31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1828800" cy="45720"/>
          </a:xfrm>
          <a:prstGeom prst="rect">
            <a:avLst/>
          </a:prstGeom>
          <a:solidFill>
            <a:srgbClr val="1A7FA5"/>
          </a:solidFill>
          <a:ln w="12700">
            <a:solidFill>
              <a:srgbClr val="1A7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has structure — and that structure is measurable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GMM regimes capture the full spectrum of SAFCOM market behaviour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3924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Vodacom acquisition is a validated out-of-sample structural break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313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 is validated; GJR-GARCH/EVT will sharpen it for production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Mutugi Kirianja  ·  NSE Equity Risk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 Speak in Regimes: Lessons from Safaricom Equity Behaviour</dc:title>
  <dc:subject>PptxGenJS Presentation</dc:subject>
  <dc:creator>David Mutugi Kirianja</dc:creator>
  <cp:lastModifiedBy>David Mutugi Kirianja</cp:lastModifiedBy>
  <cp:revision>1</cp:revision>
  <dcterms:created xsi:type="dcterms:W3CDTF">2026-07-02T19:23:34Z</dcterms:created>
  <dcterms:modified xsi:type="dcterms:W3CDTF">2026-07-02T19:23:34Z</dcterms:modified>
</cp:coreProperties>
</file>